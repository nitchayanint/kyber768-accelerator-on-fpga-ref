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077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  <p:sldId id="279" r:id="rId26"/>
  </p:sldIdLst>
  <p:sldSz cx="12192000" cy="6858000"/>
  <p:notesSz cx="6858000" cy="9144000"/>
  <p:defaultTextStyle>
    <a:defPPr>
      <a:defRPr lang="en-T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07"/>
    <p:restoredTop sz="92524"/>
  </p:normalViewPr>
  <p:slideViewPr>
    <p:cSldViewPr snapToGrid="0">
      <p:cViewPr varScale="1">
        <p:scale>
          <a:sx n="77" d="100"/>
          <a:sy n="77" d="100"/>
        </p:scale>
        <p:origin x="208" y="10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CF08EF-6DAA-3545-AE84-8FB4990C400F}" type="datetimeFigureOut">
              <a:rPr lang="en-TH" smtClean="0"/>
              <a:t>15/9/2025 R</a:t>
            </a:fld>
            <a:endParaRPr lang="en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92A94C-8D73-AF45-96D9-6DEB75C6C2A7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4156246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2A94C-8D73-AF45-96D9-6DEB75C6C2A7}" type="slidenum">
              <a:rPr lang="en-TH" smtClean="0"/>
              <a:t>1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5258794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2A94C-8D73-AF45-96D9-6DEB75C6C2A7}" type="slidenum">
              <a:rPr lang="en-TH" smtClean="0"/>
              <a:t>13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866724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1E1CE-06BE-DB13-C42A-8FC7E05B3B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F074C9-EBBB-96B6-4AB2-D218F85C64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F23AC-52E1-1B81-460F-EE1392469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99A17-92D7-BD41-ACF0-C51C788A1157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F5C52-260E-40A8-F290-7698C5CDC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BFCF3B-BDC4-C8B6-2844-0BA8D2C90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994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6A036-6E5C-0752-16FB-47C5B895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B71B0-3BD3-EEFF-EC64-4C6CEBA1A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F85B3A-315C-2A7E-5606-0B0678FB3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ACF2B-863E-FC42-8657-30CB3AA2FF3F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884C23-E950-7AA4-3BF6-AB5B16E4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E9B56-F918-C900-B580-5FFAB1319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335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DE195-16CA-ED31-DD67-561DF1531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99A50-0855-AA73-E791-E527114E8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AB854-F458-05EE-1DD1-904F23F3F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58D77D-F23A-2C4E-8833-E99062D6B066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7C360-EDA9-D8F4-BD0C-3645E3E5A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764D7-7803-9294-A7E7-5C8651EFA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0263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F2005-3ED4-1578-007F-029FEBDE9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92433-0293-FE4E-16CF-65D6FE209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8B8AA-8703-9983-F05A-2457A1D78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C5353-7DFC-B902-50BC-C120961B6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F649A-C7F8-F846-9C45-3FD14F43391F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312A69-3993-18DB-66FC-56618672C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80D01D-64F2-DDF6-F484-3F4A44753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7195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2E9EA-514B-53C2-1389-FE23ABC96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43C6A-1F7F-6CAD-A16E-1E945F40F7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B3206C-0C09-0AE2-405D-8A80491B5B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414B5-7CFD-B3B3-1621-36BD91F81A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5842-768B-0744-1021-C98AB12F48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3FA59B-6A7A-CD6C-28C6-51A006A72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31EB9-E293-5F49-B746-B4CA211D06A8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B93A5D-A4B9-6026-9B30-39E8401B2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EF2408-16E5-3AB6-DF51-B2CE8121D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8820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701CB-2691-EC73-23C5-5514DEE0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7A6335-D1E1-902B-A2F1-E2E298F45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49AED-76D9-E641-AF56-3F2ECE9C6F1C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2F8586-A3AF-9070-50AF-D98A5B83E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4FD46-34B0-51DE-6F4A-AB6B8A460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4733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8ADCE0-C6D7-B29E-BC4E-0B70042B1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F8230-7759-A046-8D17-41EA1F10E335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296100-8CA5-3A02-84C4-0C5B01805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FC2B0-11C4-3055-C9AB-D56A7DEDB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749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EAEF4-E46D-0F62-3672-B43F1B13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ED2D-0AF6-A415-7267-4E7B8DCCA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D4F599-1469-DCA1-EA14-9784DBBFF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9C9169-5A0D-A83D-35F6-78FE38898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6375E-C212-D94B-9072-F217C0109E88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3065B9-6869-10EE-9A7C-E762C5098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A7918C-7BE6-4D91-78C8-1D1A974E1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438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AD1C9-B52F-5FB5-E4F6-B8C7F1B57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EC9A3A-2CC4-7A8D-A3F8-910FDBFD0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C3C90D-6193-B2C1-7BAB-09995A2AF7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8E120D-CAA9-CBE2-EB00-D5EFD39B1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3F50D-2C01-CE4F-94C2-1D7CA0E3715E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FD35F2-DF33-E77A-C7F0-9760994BE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4421B9-78B3-73F6-2128-C6E0E63B0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137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361FB-31D5-EADA-FA71-84EE083E3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7AA96D-8FE6-A3D9-CB29-E324694FBC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617875-53C8-6ABD-E485-53A2D8DA1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1B303-5C47-CC4D-9356-EF8919C6BB97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94FB6C-0C47-B190-066D-6534A4199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9801C-D826-E6B8-16D5-9F3FB78DB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389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1AB5D4-D19E-04AE-DEF0-F4E85F991C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4F36FA-D8CB-2F9C-A206-3FD242636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8638AB-C3D1-3F29-6BA2-C11CEDAEE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2FCDE-FCEB-B746-9DE6-C13F08E7C12A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5855E4-34F7-FA55-298B-37A82C0DC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27465-9243-1C08-E284-DBC5C6EA7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13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EC226D-6EDC-60BF-B3E3-D3E2401DE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67EA4-0FFF-CF6C-8290-EB50AD903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3F7D0A-932B-91DF-4AF5-6EC197B627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2C69C9-94DA-8943-AA0A-C38645DEA719}" type="datetime1">
              <a:rPr lang="en-US" smtClean="0"/>
              <a:t>9/15/25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9A7C95-B849-84AB-62CA-56EF21DEF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C415F3-9180-AADC-A740-3BCC5FFDEB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738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8" r:id="rId1"/>
    <p:sldLayoutId id="2147484079" r:id="rId2"/>
    <p:sldLayoutId id="2147484080" r:id="rId3"/>
    <p:sldLayoutId id="2147484081" r:id="rId4"/>
    <p:sldLayoutId id="2147484082" r:id="rId5"/>
    <p:sldLayoutId id="2147484083" r:id="rId6"/>
    <p:sldLayoutId id="2147484084" r:id="rId7"/>
    <p:sldLayoutId id="2147484085" r:id="rId8"/>
    <p:sldLayoutId id="2147484086" r:id="rId9"/>
    <p:sldLayoutId id="2147484087" r:id="rId10"/>
    <p:sldLayoutId id="214748408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jpe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F8FE5-ED57-1ACF-6A5C-CCD83B8231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Implementation of NTT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BBC3E5-ACB5-E1BB-C6B0-31C3D6F94F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TH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Panupong Sangaphunchai</a:t>
            </a:r>
          </a:p>
          <a:p>
            <a:r>
              <a:rPr lang="en-TH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6580587</a:t>
            </a:r>
          </a:p>
          <a:p>
            <a:r>
              <a:rPr lang="en-TH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15th September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9A2B3-EFCA-C1CA-F3CC-D69FFA8B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51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0DB71-A243-B1D8-368B-DFBC10B8E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Finite field and Rings</a:t>
            </a:r>
            <a:endParaRPr lang="en-TH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238504-7E5B-3A1F-BF79-FE0D055024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7543"/>
                <a:ext cx="10515600" cy="447448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1.Finite field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P(x) with coefficients p</a:t>
                </a:r>
                <a:r>
                  <a:rPr lang="en-US" baseline="-250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∈</m:t>
                    </m:r>
                  </m:oMath>
                </a14:m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Z</a:t>
                </a:r>
                <a:r>
                  <a:rPr lang="en-US" baseline="-250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q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 as belonging to the set </a:t>
                </a:r>
                <a:r>
                  <a:rPr lang="en-US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Z</a:t>
                </a:r>
                <a:r>
                  <a:rPr lang="en-US" baseline="-25000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q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[x]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The coefficients of the polynomial can still be bounded in a fixed range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2. Ring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The degree of the polynomial will only grow larger we perform more multiplications; hence, longer arrays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Take modulo some polynomial </a:t>
                </a:r>
                <a:r>
                  <a:rPr lang="el-GR" sz="1800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ϕ</a:t>
                </a:r>
                <a:r>
                  <a:rPr lang="el-GR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(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x) after every polynomial operation; hence, resulting degree is never larger than </a:t>
                </a:r>
                <a:r>
                  <a:rPr lang="el-GR" sz="1800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ϕ</a:t>
                </a:r>
                <a:r>
                  <a:rPr lang="el-GR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(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x) </a:t>
                </a:r>
              </a:p>
              <a:p>
                <a:r>
                  <a:rPr lang="en-US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Zq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​[x]/(</a:t>
                </a:r>
                <a:r>
                  <a:rPr lang="el-GR" sz="1900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ϕ</a:t>
                </a:r>
                <a:r>
                  <a:rPr lang="el-GR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(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x)).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In the context of lattice-based Cryptography, 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ar-A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ar-AE" sz="1800" dirty="0">
                    <a:latin typeface="Angsana New" panose="02020603050405020304" pitchFamily="18" charset="-34"/>
                  </a:rPr>
                  <a:t> 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is chosen to be a polynomial looking either like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ar-AE" sz="180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ar-AE" sz="1800" dirty="0">
                    <a:latin typeface="Angsana New" panose="02020603050405020304" pitchFamily="18" charset="-34"/>
                  </a:rPr>
                  <a:t> </a:t>
                </a:r>
                <a:r>
                  <a:rPr lang="en-US" sz="3000" dirty="0">
                    <a:latin typeface="Angsana New" panose="02020603050405020304" pitchFamily="18" charset="-34"/>
                  </a:rPr>
                  <a:t>or</a:t>
                </a:r>
                <a:r>
                  <a:rPr lang="en-US" sz="18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ar-AE" sz="180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ar-AE" sz="1800" dirty="0">
                    <a:latin typeface="Angsana New" panose="02020603050405020304" pitchFamily="18" charset="-34"/>
                  </a:rPr>
                  <a:t>.</a:t>
                </a:r>
                <a:r>
                  <a:rPr lang="en-US" sz="1800" dirty="0">
                    <a:latin typeface="Angsana New" panose="02020603050405020304" pitchFamily="18" charset="-34"/>
                  </a:rPr>
                  <a:t>   </a:t>
                </a:r>
                <a:r>
                  <a:rPr lang="en-US" sz="3000" dirty="0">
                    <a:latin typeface="Angsana New" panose="02020603050405020304" pitchFamily="18" charset="-34"/>
                  </a:rPr>
                  <a:t>note: d is the highest degree of the polynomials</a:t>
                </a:r>
                <a:endParaRPr lang="en-US" sz="30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endParaRPr lang="en-US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endParaRPr lang="en-US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endParaRPr lang="en-US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238504-7E5B-3A1F-BF79-FE0D055024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7543"/>
                <a:ext cx="10515600" cy="4474483"/>
              </a:xfrm>
              <a:blipFill>
                <a:blip r:embed="rId2"/>
                <a:stretch>
                  <a:fillRect l="-1086" t="-2550" r="-241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14A79A-D69D-8FB4-2E86-686B3004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1655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166349-EC68-390E-E008-E4D0DFD0DD5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Negative Wrapped Convolution (NWC)</a:t>
                </a:r>
                <a:r>
                  <a:rPr lang="ar-AE" dirty="0">
                    <a:latin typeface="Angsana New" panose="02020603050405020304" pitchFamily="18" charset="-34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b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</a:br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166349-EC68-390E-E008-E4D0DFD0DD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171" t="-10476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77475B-0A1F-B2AE-4898-1F28A23EFD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</p:spPr>
            <p:txBody>
              <a:bodyPr/>
              <a:lstStyle/>
              <a:p>
                <a:r>
                  <a:rPr lang="en-US" dirty="0">
                    <a:latin typeface="Angsana New" panose="02020603050405020304" pitchFamily="18" charset="-34"/>
                    <a:ea typeface="Cambria Math" panose="02040503050406030204" pitchFamily="18" charset="0"/>
                    <a:cs typeface="Angsana New" panose="02020603050405020304" pitchFamily="18" charset="-34"/>
                  </a:rPr>
                  <a:t>Overall expression: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l-GR" sz="19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sz="19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∑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sz="19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TH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9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TH" sz="19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R</a:t>
                </a:r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eplace</a:t>
                </a:r>
                <a:r>
                  <a:rPr lang="ar-A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sz="19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19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TH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with -1 i.e.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(3</m:t>
                        </m:r>
                        <m:r>
                          <a:rPr lang="ar-AE" sz="19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sz="19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9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+9)%</m:t>
                    </m:r>
                    <m:sSup>
                      <m:sSupPr>
                        <m:ctrlPr>
                          <a:rPr lang="ar-AE" sz="1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sz="19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+1=3</m:t>
                    </m:r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+2</m:t>
                    </m:r>
                    <m:d>
                      <m:d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+9</m:t>
                    </m:r>
                  </m:oMath>
                </a14:m>
                <a:endParaRPr lang="en-TH" sz="19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pPr marL="0" indent="0">
                  <a:buNone/>
                </a:pPr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77475B-0A1F-B2AE-4898-1F28A23EFD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C9EEB08-8C2C-28C2-4638-12D5C8C22D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415007"/>
            <a:ext cx="5961380" cy="34015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AC19796-A88C-8702-3610-E0C4A980CA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34200" y="3429000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ar-AE" sz="19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9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1900" dirty="0">
                  <a:latin typeface="Angsana New" panose="02020603050405020304" pitchFamily="18" charset="-34"/>
                </a:endParaRP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Kyber where degree = 256 wouldn’t scale well.</a:t>
                </a:r>
                <a:endParaRPr lang="en-US" b="0" dirty="0">
                  <a:latin typeface="Angsana New" panose="02020603050405020304" pitchFamily="18" charset="-34"/>
                </a:endParaRPr>
              </a:p>
              <a:p>
                <a:endParaRPr lang="en-US" sz="1900" dirty="0">
                  <a:latin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AC19796-A88C-8702-3610-E0C4A980C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3429000"/>
                <a:ext cx="10515600" cy="4351338"/>
              </a:xfrm>
              <a:prstGeom prst="rect">
                <a:avLst/>
              </a:prstGeom>
              <a:blipFill>
                <a:blip r:embed="rId5"/>
                <a:stretch>
                  <a:fillRect l="-1086" t="-1458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D6A3E-5E31-31F1-FCDF-397AC73EF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8693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D424D-8D29-4B47-22D0-DF75C77FE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Evaluation Form</a:t>
            </a:r>
            <a:endParaRPr lang="en-TH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CFE57B-53FF-D39A-2713-157767F19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substituting a specific number or variable for the polynomial's variable and then calculating the resulting numerical value.</a:t>
                </a:r>
              </a:p>
              <a:p>
                <a:r>
                  <a:rPr lang="en-US" b="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Instea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d of describing the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900" dirty="0">
                    <a:latin typeface="Angsana New" panose="02020603050405020304" pitchFamily="18" charset="-34"/>
                  </a:rPr>
                  <a:t> </a:t>
                </a:r>
                <a:r>
                  <a:rPr lang="en-US" dirty="0">
                    <a:latin typeface="Angsana New" panose="02020603050405020304" pitchFamily="18" charset="-34"/>
                  </a:rPr>
                  <a:t>, we can evaluate the polynomials at distinct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Angsana New" panose="02020603050405020304" pitchFamily="18" charset="-34"/>
                  </a:rPr>
                  <a:t>. i.e.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),</m:t>
                    </m:r>
                    <m:sSub>
                      <m:sSub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),</m:t>
                    </m:r>
                    <m:sSub>
                      <m:sSub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1900" dirty="0">
                  <a:latin typeface="Angsana New" panose="02020603050405020304" pitchFamily="18" charset="-34"/>
                </a:endParaRP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we see that, in the evaluation form, multiplication is strictly </a:t>
                </a:r>
                <a:r>
                  <a:rPr lang="en-US" b="1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component-wise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)(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19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US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r>
                  <a:rPr lang="en-US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Thus, reduce the cost to O(d). Linear cost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As long as we have distinct evaluations of a polynomial, one can efficiently recover the polynomial’s coefficient form through a process called </a:t>
                </a:r>
                <a:r>
                  <a:rPr lang="en-US" b="1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Lagrange Interpolation 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(constructing a polynomial that passes through a given set of data points).</a:t>
                </a:r>
                <a:b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</a:br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CFE57B-53FF-D39A-2713-157767F19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21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C4A2FD-6061-0B55-7CDA-34AE4E66F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99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6C5D9-FA56-2B56-D806-A68C3AB8D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Implementation of fast polynomial multiplication using Evaluation form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C02BFB-5EE7-569E-4CE9-6DB1A81C90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05408" y="1690688"/>
            <a:ext cx="6019172" cy="435133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AAF7287-3F74-11FB-3949-FF6A6C230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94311"/>
            <a:ext cx="4967208" cy="400812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A648CD-B950-4983-FECB-351EA267C0F2}"/>
                  </a:ext>
                </a:extLst>
              </p:cNvPr>
              <p:cNvSpPr txBox="1"/>
              <p:nvPr/>
            </p:nvSpPr>
            <p:spPr>
              <a:xfrm>
                <a:off x="927099" y="6015821"/>
                <a:ext cx="1055633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Note: Horner’s method is an algorithm used to efficiently evaluate a polynomial at a given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8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.</a:t>
                </a:r>
                <a:endParaRPr lang="en-TH" sz="28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A648CD-B950-4983-FECB-351EA267C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99" y="6015821"/>
                <a:ext cx="10556339" cy="523220"/>
              </a:xfrm>
              <a:prstGeom prst="rect">
                <a:avLst/>
              </a:prstGeom>
              <a:blipFill>
                <a:blip r:embed="rId4"/>
                <a:stretch>
                  <a:fillRect l="-1200" t="-9302" b="-30233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C1FF75-3865-B5B7-107F-0F89CC3D7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304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D183D-0D71-39E7-5EDE-A883FE5E6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What about the ring (Nwc)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20F4D-4E2A-0FC5-4DDB-2DE60D711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4100" y="48228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Cons: 1. </a:t>
            </a:r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we need twice as many (2d-1) evaluation points in order to be able to fully recover it back to its coefficient form. Since the final polynomial has 2d-2 degree. (still linear)</a:t>
            </a:r>
          </a:p>
          <a:p>
            <a:pPr marL="0" indent="0">
              <a:buNone/>
            </a:pPr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2.the cost goes into how we effectively evaluate polynomials (coefficient form -&gt; evaluation form), and interpolate polynomials (evaluation form -&gt; coefficient form)(is expensive and becomes the new bottleneck)</a:t>
            </a:r>
            <a:endParaRPr lang="en-TH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284CC6-F3DB-50C1-2C6B-E3BD39607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01775"/>
            <a:ext cx="6832600" cy="31877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6B328-6A3B-4FEA-F2BE-57F5D48F1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16729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8D8F-39BA-31EC-19BF-A2F0473D2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725"/>
            <a:ext cx="10515600" cy="1325563"/>
          </a:xfrm>
        </p:spPr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NTT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8B472-9BE1-9959-9C98-C6A5F72F5D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66825"/>
                <a:ext cx="10515600" cy="5438775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NTT is a particular flavor of Discrete Fourier Transform (DFT) over a finite field.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NTT defines the following transformation:</a:t>
                </a:r>
              </a:p>
              <a:p>
                <a:endParaRPr lang="en-US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endParaRPr lang="en-US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endParaRPr lang="en-US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a length-d vector </a:t>
                </a:r>
                <a:r>
                  <a:rPr lang="en-TH" b="1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a</a:t>
                </a:r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, 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index of input </a:t>
                </a:r>
                <a:r>
                  <a:rPr lang="en-US" b="1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, index of output </a:t>
                </a:r>
                <a:r>
                  <a:rPr lang="en-US" b="1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j</a:t>
                </a:r>
                <a:endParaRPr lang="en-TH" b="1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prime modulus </a:t>
                </a:r>
                <a:r>
                  <a:rPr lang="en-US" b="1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q 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A primitive d-</a:t>
                </a:r>
                <a:r>
                  <a:rPr lang="en-US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root of unity </a:t>
                </a:r>
                <a14:m>
                  <m:oMath xmlns:m="http://schemas.openxmlformats.org/officeDocument/2006/math">
                    <m:r>
                      <a:rPr lang="en-US" sz="19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𝜔</m:t>
                    </m:r>
                  </m:oMath>
                </a14:m>
                <a:r>
                  <a:rPr lang="en-TH" sz="18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d</a:t>
                </a:r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:r>
                  <a:rPr lang="en-TH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TH" sz="190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SupPr>
                      <m:e>
                        <m:r>
                          <a:rPr lang="en-US" sz="1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 </m:t>
                        </m:r>
                      </m:sub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</m:sup>
                    </m:sSubSup>
                    <m:r>
                      <a:rPr lang="en-TH" sz="19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≡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1 (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𝑚𝑜𝑑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 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𝑞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))</m:t>
                    </m:r>
                  </m:oMath>
                </a14:m>
                <a:r>
                  <a:rPr lang="en-TH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i.e</a:t>
                </a:r>
                <a:r>
                  <a:rPr lang="en-TH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. 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the field  used in Kyber is 3329, in which number 17 is a qualifying 256-th primitive root of unity.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90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p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17</m:t>
                        </m:r>
                      </m:e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256</m:t>
                        </m:r>
                      </m:sup>
                    </m:sSup>
                    <m:r>
                      <a:rPr lang="en-US" sz="19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≡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1 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𝑚𝑜𝑑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 3329</m:t>
                    </m:r>
                  </m:oMath>
                </a14:m>
                <a:r>
                  <a:rPr lang="en-TH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.</a:t>
                </a:r>
              </a:p>
              <a:p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NTT transform a length-d vector into another length-d vector but compute some kind of summation with all terms from the original vector mixed with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𝜔</m:t>
                    </m:r>
                  </m:oMath>
                </a14:m>
                <a:r>
                  <a:rPr lang="en-TH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d</a:t>
                </a:r>
              </a:p>
              <a:p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pPr lvl="1"/>
                <a:endParaRPr lang="en-TH" sz="28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pPr lvl="1"/>
                <a:endParaRPr lang="en-TH" sz="28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pPr marL="457200" lvl="1" indent="0">
                  <a:buNone/>
                </a:pPr>
                <a:endParaRPr lang="en-TH" sz="28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8B472-9BE1-9959-9C98-C6A5F72F5D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66825"/>
                <a:ext cx="10515600" cy="5438775"/>
              </a:xfrm>
              <a:blipFill>
                <a:blip r:embed="rId2"/>
                <a:stretch>
                  <a:fillRect l="-1086" t="-1865" r="-724" b="-1399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D6E6CE7-EDF8-037E-1703-C455A27F42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59000"/>
            <a:ext cx="3771900" cy="16256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4DD5E-D93A-1118-CF61-746B9B7F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3509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2A8DE50-2CE8-70D5-E64F-5210FDD7A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63650"/>
            <a:ext cx="2413000" cy="19939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433686-BDD9-DA63-2D33-3C83B1C5D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Relationship to evaluation form and inverse NTT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C900ED-CD93-94E9-089C-03E672382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03300" y="3418681"/>
                <a:ext cx="10515600" cy="4351338"/>
              </a:xfrm>
            </p:spPr>
            <p:txBody>
              <a:bodyPr/>
              <a:lstStyle/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j </a:t>
                </a:r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= 0.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these expression are no different from </a:t>
                </a:r>
                <a:r>
                  <a:rPr lang="en-US" b="1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evaluating the polynomial</a:t>
                </a:r>
                <a:r>
                  <a:rPr lang="th-TH" b="1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:r>
                  <a:rPr lang="en-US" b="1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a(x)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  at points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TH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SupPr>
                      <m:e>
                        <m:r>
                          <a:rPr lang="en-US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  <m:r>
                          <a:rPr lang="en-US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 </m:t>
                        </m:r>
                      </m:sub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𝑗</m:t>
                        </m:r>
                      </m:sup>
                    </m:sSubSup>
                    <m:r>
                      <a:rPr lang="en-US" sz="1900" i="1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 </m:t>
                    </m:r>
                  </m:oMath>
                </a14:m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 .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Now, we know that NTT is no different from evaluating a degree-(d-1) polynomial at </a:t>
                </a:r>
                <a:r>
                  <a:rPr lang="en-US" b="1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d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 distinct points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Similarly, there is an inverse transformation </a:t>
                </a:r>
                <a:r>
                  <a:rPr lang="en-US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iNTT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that takes us back from the NTT (evaluation) form to the regular coefficient form.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𝑎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𝑗</m:t>
                        </m:r>
                      </m:sub>
                    </m:sSub>
                    <m:r>
                      <a:rPr lang="en-US" sz="1900" b="0" i="1" smtClean="0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=</m:t>
                    </m:r>
                    <m:sSup>
                      <m:sSupPr>
                        <m:ctrlP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p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</m:e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−1</m:t>
                        </m:r>
                      </m:sup>
                    </m:sSup>
                    <m:r>
                      <m:rPr>
                        <m:nor/>
                      </m:rPr>
                      <a:rPr lang="en-US" sz="1900" dirty="0" smtClean="0"/>
                      <m:t>⋅</m:t>
                    </m:r>
                    <m:r>
                      <m:rPr>
                        <m:nor/>
                      </m:rPr>
                      <a:rPr lang="en-US" sz="1900" b="0" i="0" dirty="0" smtClean="0"/>
                      <m:t> </m:t>
                    </m:r>
                    <m:sSubSup>
                      <m:sSubSupPr>
                        <m:ctrlPr>
                          <a:rPr lang="el-GR" sz="1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l-GR" sz="1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∑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1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1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sSub>
                      <m:sSubPr>
                        <m:ctrlPr>
                          <a:rPr lang="en-US" sz="190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900" i="1" smtClean="0">
                                <a:latin typeface="Cambria Math" panose="02040503050406030204" pitchFamily="18" charset="0"/>
                                <a:cs typeface="Angsana New" panose="02020603050405020304" pitchFamily="18" charset="-34"/>
                              </a:rPr>
                            </m:ctrlPr>
                          </m:accPr>
                          <m:e>
                            <m:r>
                              <a:rPr lang="en-US" sz="1900" b="0" i="1" smtClean="0">
                                <a:latin typeface="Cambria Math" panose="02040503050406030204" pitchFamily="18" charset="0"/>
                                <a:cs typeface="Angsana New" panose="02020603050405020304" pitchFamily="18" charset="-34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en-US" sz="190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pPr>
                      <m:e>
                        <m:r>
                          <a:rPr lang="en-US" sz="1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−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𝑖𝑗</m:t>
                        </m:r>
                      </m:sup>
                    </m:sSup>
                  </m:oMath>
                </a14:m>
                <a:endParaRPr lang="en-US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C900ED-CD93-94E9-089C-03E672382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03300" y="3418681"/>
                <a:ext cx="10515600" cy="4351338"/>
              </a:xfrm>
              <a:blipFill>
                <a:blip r:embed="rId3"/>
                <a:stretch>
                  <a:fillRect l="-1086" t="-2624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E0770-615B-7821-2929-C6DC40A3A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342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6845D-73A0-E919-28C2-16CE423BA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2971"/>
            <a:ext cx="10515600" cy="1325563"/>
          </a:xfrm>
        </p:spPr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Recursive NTT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AA4154-A935-59BD-CB2C-3015A3B7A9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48500" y="2920206"/>
                <a:ext cx="5143500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en-US" sz="2000" i="1" smtClean="0">
                                <a:latin typeface="Cambria Math" panose="02040503050406030204" pitchFamily="18" charset="0"/>
                                <a:cs typeface="Angsana New" panose="02020603050405020304" pitchFamily="18" charset="-34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cs typeface="Angsana New" panose="02020603050405020304" pitchFamily="18" charset="-34"/>
                              </a:rPr>
                              <m:t>(</m:t>
                            </m:r>
                            <m:r>
                              <a:rPr lang="en-US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ngsana New" panose="02020603050405020304" pitchFamily="18" charset="-34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cs typeface="Angsana New" panose="02020603050405020304" pitchFamily="18" charset="-34"/>
                              </a:rPr>
                              <m:t>𝑑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cs typeface="Angsana New" panose="02020603050405020304" pitchFamily="18" charset="-34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)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/2</m:t>
                        </m:r>
                      </m:sup>
                    </m:sSup>
                    <m:sSubSup>
                      <m:sSubSupPr>
                        <m:ctrlPr>
                          <a:rPr lang="en-TH" sz="200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=</m:t>
                        </m:r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 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</m:sup>
                    </m:sSubSup>
                    <m:r>
                      <a:rPr lang="en-TH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≡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1 (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𝑚𝑜𝑑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𝑞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)</m:t>
                    </m:r>
                  </m:oMath>
                </a14:m>
                <a:endParaRPr lang="en-TH" sz="20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Sup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2</m:t>
                        </m:r>
                      </m:sup>
                    </m:sSubSup>
                    <m:r>
                      <a:rPr lang="en-US" sz="2000" b="0" i="1" smtClean="0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 </m:t>
                    </m:r>
                  </m:oMath>
                </a14:m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is primitive d/2-th root of unity.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Basically , Separate out the even-indexed coefficients in from the odd ones, and the expression becomes two shorter NTT subroutines that uses the primitive d/2-th root of unity. We have thus found ourselves </a:t>
                </a:r>
                <a:r>
                  <a:rPr lang="en-US" b="1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A recurrence relation 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(a mathematical expression that defines a sequence in terms of its previous terms.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AA4154-A935-59BD-CB2C-3015A3B7A9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48500" y="2920206"/>
                <a:ext cx="5143500" cy="4351338"/>
              </a:xfrm>
              <a:blipFill>
                <a:blip r:embed="rId2"/>
                <a:stretch>
                  <a:fillRect l="-2457" t="-872" r="-1966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6F1F815-17F3-DBEF-BE1E-398174E9F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2742804"/>
            <a:ext cx="5905500" cy="3835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6F63576-12C3-429B-86FB-6957509DA2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90600" y="13684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If we implement it naively, we will get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𝑂</m:t>
                    </m:r>
                    <m:r>
                      <a:rPr lang="en-US" sz="1900" i="1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(</m:t>
                    </m:r>
                    <m:sSup>
                      <m:sSupPr>
                        <m:ctrlPr>
                          <a:rPr lang="en-US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pPr>
                      <m:e>
                        <m:r>
                          <a:rPr lang="en-US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</m:e>
                      <m:sup>
                        <m:r>
                          <a:rPr lang="en-US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2</m:t>
                        </m:r>
                      </m:sup>
                    </m:sSup>
                    <m:r>
                      <a:rPr lang="en-US" sz="1900" i="1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)</m:t>
                    </m:r>
                  </m:oMath>
                </a14:m>
                <a:r>
                  <a:rPr lang="en-US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. 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But ,our sole intention of going to the NTT domain is to avoid the cost of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𝑂</m:t>
                    </m:r>
                    <m:r>
                      <a:rPr lang="en-US" sz="1900" i="1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(</m:t>
                    </m:r>
                    <m:sSup>
                      <m:sSupPr>
                        <m:ctrlPr>
                          <a:rPr lang="en-US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pPr>
                      <m:e>
                        <m:r>
                          <a:rPr lang="en-US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</m:e>
                      <m:sup>
                        <m:r>
                          <a:rPr lang="en-US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2</m:t>
                        </m:r>
                      </m:sup>
                    </m:sSup>
                    <m:r>
                      <a:rPr lang="en-US" sz="1900" i="1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)</m:t>
                    </m:r>
                  </m:oMath>
                </a14:m>
                <a:r>
                  <a:rPr lang="en-TH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1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Pr>
                      <m:e>
                        <m:r>
                          <a:rPr lang="en-US" sz="21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𝑁𝑇𝑇</m:t>
                        </m:r>
                      </m:e>
                      <m:sub>
                        <m:sSub>
                          <m:sSubPr>
                            <m:ctrlPr>
                              <a:rPr lang="en-US" sz="2100" i="1">
                                <a:latin typeface="Cambria Math" panose="02040503050406030204" pitchFamily="18" charset="0"/>
                                <a:cs typeface="Angsana New" panose="02020603050405020304" pitchFamily="18" charset="-34"/>
                              </a:rPr>
                            </m:ctrlPr>
                          </m:sSubPr>
                          <m:e>
                            <m:r>
                              <a:rPr lang="en-US" sz="2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ngsana New" panose="02020603050405020304" pitchFamily="18" charset="-34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100" i="1">
                                <a:latin typeface="Cambria Math" panose="02040503050406030204" pitchFamily="18" charset="0"/>
                                <a:cs typeface="Angsana New" panose="02020603050405020304" pitchFamily="18" charset="-34"/>
                              </a:rPr>
                              <m:t>𝑑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to represent NTT algorithm for dimension-d vector using primitive d-</a:t>
                </a:r>
                <a:r>
                  <a:rPr lang="en-US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root of unity.</a:t>
                </a:r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endParaRPr lang="en-TH" sz="19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6F63576-12C3-429B-86FB-6957509DA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1368425"/>
                <a:ext cx="10515600" cy="4351338"/>
              </a:xfrm>
              <a:prstGeom prst="rect">
                <a:avLst/>
              </a:prstGeom>
              <a:blipFill>
                <a:blip r:embed="rId4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CE279-8A85-5A23-5D20-0B0872812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783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00333-582D-97EE-040D-7FA84BE87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Recursive NTT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1116C6-0551-078F-AEDF-DDCC6D329A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39924"/>
                <a:ext cx="10515600" cy="5654676"/>
              </a:xfrm>
            </p:spPr>
            <p:txBody>
              <a:bodyPr>
                <a:normAutofit/>
              </a:bodyPr>
              <a:lstStyle/>
              <a:p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1 addition, 1 multiplication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SupPr>
                      <m:e>
                        <m:r>
                          <a:rPr lang="en-US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𝑑</m:t>
                        </m:r>
                      </m:sub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𝑗</m:t>
                        </m:r>
                      </m:sup>
                    </m:sSubSup>
                    <m:r>
                      <a:rPr lang="en-US" sz="1900" b="0" i="1" smtClean="0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.</m:t>
                    </m:r>
                  </m:oMath>
                </a14:m>
                <a:r>
                  <a:rPr lang="en-US" sz="1900" b="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:r>
                  <a:rPr lang="en-US" b="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Therefore, it’s O(d).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We break the task into 2 smaller tasks, each with half the size, therefore going down O(log d) levels.</a:t>
                </a: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 However, the expression above only applies 0 &lt;= j &lt; d/2 , as once j exceeds the boundary, the expression becomes</a:t>
                </a:r>
              </a:p>
              <a:p>
                <a:r>
                  <a:rPr lang="en-US" sz="30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Implementation of Recursive NTT:</a:t>
                </a:r>
              </a:p>
              <a:p>
                <a:pPr lvl="1"/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Define the base case (NTT of a single element is itself).</a:t>
                </a:r>
              </a:p>
              <a:p>
                <a:pPr lvl="1"/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Break the input vector into even and odd parts, and recursively call NTT on them with the </a:t>
                </a:r>
                <a:r>
                  <a:rPr lang="en-US" sz="2800" dirty="0">
                    <a:ea typeface="Cambria Math" panose="02040503050406030204" pitchFamily="18" charset="0"/>
                    <a:cs typeface="Angsana New" panose="02020603050405020304" pitchFamily="18" charset="-3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𝜔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 </m:t>
                    </m:r>
                  </m:oMath>
                </a14:m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 term squared.</a:t>
                </a:r>
              </a:p>
              <a:p>
                <a:pPr lvl="1"/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For </a:t>
                </a:r>
                <a:r>
                  <a:rPr lang="en-US" sz="28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0 &lt;= j &lt; d/2. </a:t>
                </a:r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fill the output array with </a:t>
                </a:r>
              </a:p>
              <a:p>
                <a:pPr lvl="1"/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For d/2&lt;= j &lt; d,  fill the output array with </a:t>
                </a:r>
              </a:p>
              <a:p>
                <a:endParaRPr lang="en-US" b="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1116C6-0551-078F-AEDF-DDCC6D329A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39924"/>
                <a:ext cx="10515600" cy="5654676"/>
              </a:xfrm>
              <a:blipFill>
                <a:blip r:embed="rId2"/>
                <a:stretch>
                  <a:fillRect l="-1206" t="-1790" r="-241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3F474727-2582-DC50-ECA6-44227C3556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831" t="86262" r="4137" b="2595"/>
          <a:stretch>
            <a:fillRect/>
          </a:stretch>
        </p:blipFill>
        <p:spPr>
          <a:xfrm>
            <a:off x="965200" y="1280319"/>
            <a:ext cx="5029200" cy="5349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81AEAE-4BEF-F644-655C-A0915C8B26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623" t="31250"/>
          <a:stretch>
            <a:fillRect/>
          </a:stretch>
        </p:blipFill>
        <p:spPr>
          <a:xfrm>
            <a:off x="2089150" y="3429000"/>
            <a:ext cx="4006850" cy="419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283092-A077-860E-A385-2AABC91AC0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831" t="86262" r="4137" b="2595"/>
          <a:stretch>
            <a:fillRect/>
          </a:stretch>
        </p:blipFill>
        <p:spPr>
          <a:xfrm>
            <a:off x="5435600" y="5161548"/>
            <a:ext cx="4165600" cy="4431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F3930EF-6859-2F38-0FA2-4AD3D2A7EC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623" t="31250"/>
          <a:stretch>
            <a:fillRect/>
          </a:stretch>
        </p:blipFill>
        <p:spPr>
          <a:xfrm>
            <a:off x="5308600" y="5729287"/>
            <a:ext cx="4006850" cy="4191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585FF-0568-FBCB-B9DD-351979548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675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03C099-F63B-65D7-6C50-2589923A52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94500" y="1583530"/>
                <a:ext cx="5104575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30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Implementation of Recursive NTT:</a:t>
                </a:r>
              </a:p>
              <a:p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Define the base case (NTT of a single element is itself).</a:t>
                </a:r>
              </a:p>
              <a:p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Break the input vector into even and odd parts, and recursively call NTT on them with the </a:t>
                </a:r>
                <a:r>
                  <a:rPr lang="en-US" sz="2800" dirty="0">
                    <a:ea typeface="Cambria Math" panose="02040503050406030204" pitchFamily="18" charset="0"/>
                    <a:cs typeface="Angsana New" panose="02020603050405020304" pitchFamily="18" charset="-3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𝜔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 </m:t>
                    </m:r>
                  </m:oMath>
                </a14:m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 term squared.</a:t>
                </a:r>
              </a:p>
              <a:p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For </a:t>
                </a:r>
                <a:r>
                  <a:rPr lang="en-US" sz="28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0 &lt;= j &lt; d/2. </a:t>
                </a:r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fill the output array with </a:t>
                </a:r>
              </a:p>
              <a:p>
                <a:endParaRPr lang="en-US" sz="26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r>
                  <a:rPr lang="en-US" sz="26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For d/2&lt;= j &lt; d,  fill the output array with </a:t>
                </a:r>
              </a:p>
              <a:p>
                <a:pPr marL="0" indent="0">
                  <a:buNone/>
                </a:pPr>
                <a:endParaRPr lang="en-T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03C099-F63B-65D7-6C50-2589923A5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94500" y="1583530"/>
                <a:ext cx="5104575" cy="4351338"/>
              </a:xfrm>
              <a:blipFill>
                <a:blip r:embed="rId2"/>
                <a:stretch>
                  <a:fillRect l="-2736" t="-2326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E536A1C0-8D78-9E18-4522-8546C2B683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100" y="251307"/>
            <a:ext cx="6159500" cy="63553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01CB9F-BFDF-FEE2-B6F7-5BE801F62FB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7831" t="86262" r="4137" b="2595"/>
          <a:stretch>
            <a:fillRect/>
          </a:stretch>
        </p:blipFill>
        <p:spPr>
          <a:xfrm>
            <a:off x="7067550" y="4642043"/>
            <a:ext cx="4165600" cy="4431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46660F8-D60F-9A13-DEEF-E149F432916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623" t="31250"/>
          <a:stretch>
            <a:fillRect/>
          </a:stretch>
        </p:blipFill>
        <p:spPr>
          <a:xfrm>
            <a:off x="7067550" y="5725318"/>
            <a:ext cx="4006850" cy="4191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1DD4E6-E799-EBFF-4B42-4C5A03F2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823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2B11A-E913-B150-64AF-1FA17DE9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8593"/>
            <a:ext cx="10515600" cy="1325563"/>
          </a:xfrm>
        </p:spPr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Iterative NTT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324E7-0D0A-9A27-4C5D-4B7EB169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4731"/>
            <a:ext cx="10515600" cy="4351338"/>
          </a:xfrm>
        </p:spPr>
        <p:txBody>
          <a:bodyPr/>
          <a:lstStyle/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Considering the number of nested function calls will cost us in the call stack and the </a:t>
            </a:r>
            <a:r>
              <a:rPr lang="en-US" dirty="0" err="1">
                <a:latin typeface="Angsana New" panose="02020603050405020304" pitchFamily="18" charset="-34"/>
                <a:cs typeface="Angsana New" panose="02020603050405020304" pitchFamily="18" charset="-34"/>
              </a:rPr>
              <a:t>recomputation</a:t>
            </a:r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 of certain values. Iterative NTT!</a:t>
            </a:r>
          </a:p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let’s try to expand the recursive call hierarchy of an example input of length-8.</a:t>
            </a:r>
            <a:endParaRPr lang="en-TH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67B740-1140-0313-719E-7CFFD24583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2984"/>
          <a:stretch>
            <a:fillRect/>
          </a:stretch>
        </p:blipFill>
        <p:spPr>
          <a:xfrm>
            <a:off x="939800" y="2413000"/>
            <a:ext cx="7315200" cy="2425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BE7471F-41EF-BD2E-0966-7F0BAB1A1E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50100" y="2663031"/>
                <a:ext cx="48641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Walking upwards the tree, every parent node combines the elements inside the leaf nodes in two different </a:t>
                </a:r>
                <a:r>
                  <a:rPr lang="en-US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ways:</a:t>
                </a:r>
                <a14:m>
                  <m:oMath xmlns:m="http://schemas.openxmlformats.org/officeDocument/2006/math">
                    <m:r>
                      <a:rPr lang="en-US" sz="1900" b="0" i="0" smtClean="0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 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cs typeface="Angsana New" panose="02020603050405020304" pitchFamily="18" charset="-34"/>
                      </a:rPr>
                      <m:t>𝑒𝑣𝑒𝑛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±</m:t>
                    </m:r>
                    <m:sSup>
                      <m:sSupPr>
                        <m:ctrlP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p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𝑗</m:t>
                        </m:r>
                      </m:sup>
                    </m:sSup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𝑜𝑑𝑑</m:t>
                    </m:r>
                  </m:oMath>
                </a14:m>
                <a:r>
                  <a:rPr lang="en-US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, thus generating a result vector that has twice the size as its leaves.</a:t>
                </a:r>
              </a:p>
              <a:p>
                <a:endParaRPr lang="en-US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BE7471F-41EF-BD2E-0966-7F0BAB1A1E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0100" y="2663031"/>
                <a:ext cx="4864100" cy="4351338"/>
              </a:xfrm>
              <a:prstGeom prst="rect">
                <a:avLst/>
              </a:prstGeom>
              <a:blipFill>
                <a:blip r:embed="rId3"/>
                <a:stretch>
                  <a:fillRect l="-2344" t="-2326" r="-2083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7CB51C9-8C92-82FF-28E9-C4D86DFBE579}"/>
              </a:ext>
            </a:extLst>
          </p:cNvPr>
          <p:cNvSpPr txBox="1">
            <a:spLocks/>
          </p:cNvSpPr>
          <p:nvPr/>
        </p:nvSpPr>
        <p:spPr>
          <a:xfrm>
            <a:off x="838200" y="48966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This kind of building block or pattern is called </a:t>
            </a:r>
            <a:r>
              <a:rPr lang="en-US" b="1" dirty="0">
                <a:latin typeface="Angsana New" panose="02020603050405020304" pitchFamily="18" charset="-34"/>
                <a:cs typeface="Angsana New" panose="02020603050405020304" pitchFamily="18" charset="-34"/>
              </a:rPr>
              <a:t>Cooley–Tukey butterfly </a:t>
            </a:r>
            <a:endParaRPr lang="en-TH" b="1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8F8822C-2E94-D967-BA02-A5C853669D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" y="5301917"/>
            <a:ext cx="4051300" cy="1556083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413EC79-20D7-C4E4-11DC-A72E3A431785}"/>
              </a:ext>
            </a:extLst>
          </p:cNvPr>
          <p:cNvSpPr txBox="1">
            <a:spLocks/>
          </p:cNvSpPr>
          <p:nvPr/>
        </p:nvSpPr>
        <p:spPr>
          <a:xfrm>
            <a:off x="4845050" y="53760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R</a:t>
            </a:r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ecursion is iterative grouping of elements in particular order</a:t>
            </a:r>
          </a:p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The grouping is called </a:t>
            </a:r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Cooley–Tukey butterfly </a:t>
            </a:r>
            <a:endParaRPr lang="en-TH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48F3C-A0C4-AAB3-FA83-282AC3F04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7034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8CE21-069A-3F58-7AC8-CEBFE5453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Iterative NTT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B861F90-7C10-D41F-38E3-F557D1220C5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533525"/>
            <a:ext cx="4381500" cy="4754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1263FFE-BC27-9734-006B-5D6AF46C8A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19700" y="570354"/>
                <a:ext cx="6794500" cy="720798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5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And the iterative version of the NTT algorithm can be described by interpreting the circuit diagram from left to right: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5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Reorganize the input in this special interleaved order.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5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Apply the first level CT butterfly operation with  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5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SupPr>
                      <m:e>
                        <m:r>
                          <a:rPr lang="en-US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b>
                        <m:r>
                          <a:rPr lang="en-US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2</m:t>
                        </m:r>
                      </m:sub>
                      <m:sup>
                        <m:r>
                          <a:rPr lang="en-US" sz="25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𝑗</m:t>
                        </m:r>
                      </m:sup>
                    </m:sSubSup>
                  </m:oMath>
                </a14:m>
                <a:r>
                  <a:rPr lang="en-US" sz="25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(2-th root of unity as the recursive step deals with array of length 2).  Note: j is the index of butterfly inside the block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5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Apply the second level CT butterfly operation on the previous result with the 4-th root of unity 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5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SupPr>
                      <m:e>
                        <m:r>
                          <a:rPr lang="en-US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b>
                        <m:r>
                          <a:rPr lang="en-US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4</m:t>
                        </m:r>
                      </m:sub>
                      <m:sup>
                        <m:r>
                          <a:rPr lang="en-US" sz="25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  <m:t>𝑗</m:t>
                        </m:r>
                      </m:sup>
                    </m:sSubSup>
                  </m:oMath>
                </a14:m>
                <a:r>
                  <a:rPr lang="en-US" sz="25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. Note that this is equivalent to the previous step, except we doubled the stride of the butterfly operation. Stride is size of the input block.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5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Iteratively apply the CT butterfly operation until the end. In the last layer, the stride length should be half of the total vector length (4 in our case).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5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Note:</a:t>
                </a:r>
                <a:r>
                  <a:rPr lang="en-US" sz="2500" dirty="0"/>
                  <a:t> </a:t>
                </a:r>
                <a:r>
                  <a:rPr lang="en-US" sz="25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At each stage of an N-point NTT, the twiddle factor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9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b>
                        <m:r>
                          <a:rPr lang="ar-AE" sz="19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ar-AE" sz="19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ar-AE" sz="1900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ar-AE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9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ar-AE" sz="190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ar-AE" sz="19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sup>
                    </m:sSubSup>
                    <m:r>
                      <a:rPr lang="en-US" sz="19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900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1900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sz="1900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1900" b="0" i="0" smtClean="0">
                        <a:latin typeface="Cambria Math" panose="02040503050406030204" pitchFamily="18" charset="0"/>
                      </a:rPr>
                      <m:t>. </m:t>
                    </m:r>
                    <m:sSubSup>
                      <m:sSubSupPr>
                        <m:ctrlPr>
                          <a:rPr lang="ar-AE" sz="19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8/2</m:t>
                        </m:r>
                      </m:sup>
                    </m:sSubSup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900" dirty="0">
                    <a:latin typeface="Angsana New" panose="02020603050405020304" pitchFamily="18" charset="-34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ar-AE" sz="19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ngsana New" panose="02020603050405020304" pitchFamily="18" charset="-34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8</m:t>
                            </m:r>
                          </m:sub>
                          <m:sup>
                            <m:r>
                              <a:rPr lang="en-US" sz="1900" b="0" i="1" smtClean="0">
                                <a:latin typeface="Cambria Math" panose="02040503050406030204" pitchFamily="18" charset="0"/>
                              </a:rPr>
                              <m:t>8/2</m:t>
                            </m:r>
                          </m:sup>
                        </m:sSubSup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9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𝜔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2</m:t>
                        </m:r>
                      </m:sub>
                      <m:sup/>
                    </m:sSubSup>
                  </m:oMath>
                </a14:m>
                <a:endParaRPr lang="ar-AE" sz="1900" dirty="0">
                  <a:latin typeface="Angsana New" panose="02020603050405020304" pitchFamily="18" charset="-34"/>
                </a:endParaRPr>
              </a:p>
              <a:p>
                <a:pPr marL="0" indent="0">
                  <a:buNone/>
                </a:pPr>
                <a:endParaRPr lang="en-US" sz="25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pPr marL="0" indent="0">
                  <a:buNone/>
                </a:pPr>
                <a:br>
                  <a:rPr lang="en-US" sz="25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</a:br>
                <a:endParaRPr lang="en-TH" sz="25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1263FFE-BC27-9734-006B-5D6AF46C8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9700" y="570354"/>
                <a:ext cx="6794500" cy="7207984"/>
              </a:xfrm>
              <a:prstGeom prst="rect">
                <a:avLst/>
              </a:prstGeom>
              <a:blipFill>
                <a:blip r:embed="rId4"/>
                <a:stretch>
                  <a:fillRect l="-1862" t="-1232" r="-1304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1A236D-4051-A606-2F55-6D2F45630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2984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4395C-292E-4E59-7A8A-D2AEC9D9D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Implementation of Iterative NTT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E42999-46DB-91B8-8D59-E02B3A46D6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42300" y="1657350"/>
                <a:ext cx="4038600" cy="5048250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TH" sz="33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The shuffle order is just bit-reverse of index. 4 -&gt; 100 -&gt; 001 -&gt; 1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ar-AE" sz="2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ar-AE" sz="22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ar-AE" sz="2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ar-AE" sz="2200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ar-AE" sz="220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ar-AE" sz="2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sup>
                    </m:sSubSup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TH" sz="22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,</a:t>
                </a:r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the base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22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ar-AE" sz="22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d>
                          <m:d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ar-AE" sz="220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ar-AE" sz="2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sup>
                    </m:sSubSup>
                  </m:oMath>
                </a14:m>
                <a:endParaRPr lang="en-TH" sz="22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r>
                  <a:rPr lang="en-US" sz="30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</a:t>
                </a:r>
                <a:r>
                  <a:rPr lang="en-TH" sz="30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is stage index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1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𝑖𝑠</m:t>
                        </m:r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𝑏𝑙𝑜𝑐𝑘</m:t>
                        </m:r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𝑠𝑖𝑧𝑒</m:t>
                        </m:r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 ,</m:t>
                        </m:r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=2</m:t>
                        </m:r>
                      </m:e>
                      <m:sup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𝑛𝑏𝑖𝑡𝑠</m:t>
                        </m:r>
                      </m:sup>
                    </m:sSup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1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en-US" sz="2100" b="0" dirty="0"/>
                  <a:t> </a:t>
                </a:r>
                <a:endParaRPr lang="en-US" sz="21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N = 8, </a:t>
                </a:r>
                <a:r>
                  <a:rPr lang="en-US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nbits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= 3, first stage -&gt; </a:t>
                </a:r>
                <a:r>
                  <a:rPr lang="en-US" dirty="0" err="1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= 0, m = 2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ar-AE" sz="22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ar-AE" sz="22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d>
                          <m:d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ar-AE" sz="220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ar-AE" sz="2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sup>
                    </m:sSubSup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 </m:t>
                    </m:r>
                    <m:sSubSup>
                      <m:sSubSupPr>
                        <m:ctrlPr>
                          <a:rPr lang="ar-AE" sz="22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𝑔𝑒𝑛</m:t>
                        </m:r>
                      </m:e>
                      <m:sub/>
                      <m:sup>
                        <m:d>
                          <m:d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ar-AE" sz="220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ar-AE" sz="2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sup>
                    </m:sSubSup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sz="22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𝑔𝑒𝑛</m:t>
                        </m:r>
                      </m:e>
                      <m:sub/>
                      <m:sup>
                        <m:d>
                          <m:d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𝑛𝑏𝑖𝑡𝑠</m:t>
                                </m:r>
                              </m:sup>
                            </m:sSup>
                            <m:r>
                              <a:rPr lang="ar-AE" sz="2200">
                                <a:latin typeface="Cambria Math" panose="02040503050406030204" pitchFamily="18" charset="0"/>
                              </a:rPr>
                              <m:t>/</m:t>
                            </m:r>
                            <m:sSup>
                              <m:sSupPr>
                                <m:ctrlPr>
                                  <a:rPr lang="ar-AE" sz="22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p>
                          </m:e>
                        </m:d>
                      </m:sup>
                    </m:sSubSup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sz="22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𝑔𝑒𝑛</m:t>
                        </m:r>
                      </m:e>
                      <m:sub/>
                      <m:sup>
                        <m:d>
                          <m:d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𝑛𝑏𝑖𝑡𝑠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e>
                        </m:d>
                      </m:sup>
                    </m:sSubSup>
                  </m:oMath>
                </a14:m>
                <a:endParaRPr lang="en-US" sz="2200" b="0" dirty="0"/>
              </a:p>
              <a:p>
                <a:endParaRPr lang="en-US" sz="2000" dirty="0"/>
              </a:p>
              <a:p>
                <a:endParaRPr lang="en-TH" sz="19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E42999-46DB-91B8-8D59-E02B3A46D6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42300" y="1657350"/>
                <a:ext cx="4038600" cy="5048250"/>
              </a:xfrm>
              <a:blipFill>
                <a:blip r:embed="rId2"/>
                <a:stretch>
                  <a:fillRect l="-3125" t="-3266" r="-2500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45F7C53-7A5B-BF15-0F54-8A1F5E68E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" y="1690688"/>
            <a:ext cx="7213600" cy="431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52728D-9FBF-B02D-DE35-C91FE47F42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6129" r="80499" b="58782"/>
          <a:stretch>
            <a:fillRect/>
          </a:stretch>
        </p:blipFill>
        <p:spPr>
          <a:xfrm>
            <a:off x="5901047" y="361157"/>
            <a:ext cx="1409700" cy="444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CE5DBC6-BFB8-3CBC-EE45-1736FEC679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1810" r="52565" b="4212"/>
          <a:stretch>
            <a:fillRect/>
          </a:stretch>
        </p:blipFill>
        <p:spPr>
          <a:xfrm>
            <a:off x="5901047" y="835916"/>
            <a:ext cx="3428999" cy="24765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F2F92-DC88-F704-A7DD-20B493814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54664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FB8F2-0835-48CF-AD1A-04CAC12D9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Implementation of Iterative NTT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284E30-4A78-2ADA-3B1A-D81A3BB36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44688"/>
            <a:ext cx="5297568" cy="42402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233EDFA-DA5B-6345-1CF9-C5EB71E09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8900" y="1540668"/>
                <a:ext cx="5575300" cy="5317331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loop goes through all stages of the NTT, doubling stride each time: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Breaks the array into slices of size stride*2 (the "butterfly block")</a:t>
                </a:r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Each element in the first half of the slice participates in a butterfly with the corresponding element in the second half.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Calculate j 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9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9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sz="19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ar-AE" sz="19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ar-AE" sz="1900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ar-AE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9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ar-AE" sz="190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ar-AE" sz="19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sup>
                    </m:sSubSup>
                  </m:oMath>
                </a14:m>
                <a:endParaRPr lang="en-US" sz="19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CT butterfly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233EDFA-DA5B-6345-1CF9-C5EB71E09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8900" y="1540668"/>
                <a:ext cx="5575300" cy="5317331"/>
              </a:xfrm>
              <a:blipFill>
                <a:blip r:embed="rId3"/>
                <a:stretch>
                  <a:fillRect l="-2721" t="-2625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E5D944-3B89-8B86-BF6F-59C007920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66663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F2E68-2CD0-B28C-A7DB-EB5647726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Iterative iNTT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BEACF-B3B9-D8F4-7FF5-368E8EAB4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The inverse transformation uses a circuit gadget that reverses (or unmixes) the result from a CT butterfly. </a:t>
            </a:r>
            <a:r>
              <a:rPr lang="en-US" b="1" dirty="0">
                <a:latin typeface="Angsana New" panose="02020603050405020304" pitchFamily="18" charset="-34"/>
                <a:cs typeface="Angsana New" panose="02020603050405020304" pitchFamily="18" charset="-34"/>
              </a:rPr>
              <a:t>the Gentleman-Sande butterfly.</a:t>
            </a:r>
            <a:endParaRPr lang="en-TH" b="1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A8294C-A00E-6F4E-B06B-4F01E37B1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250" y="2800350"/>
            <a:ext cx="4914629" cy="1809750"/>
          </a:xfrm>
          <a:prstGeom prst="rect">
            <a:avLst/>
          </a:prstGeom>
        </p:spPr>
      </p:pic>
      <p:pic>
        <p:nvPicPr>
          <p:cNvPr id="2050" name="Picture 2" descr="iNTT Gentleman-Sande butterfly network circuit.">
            <a:extLst>
              <a:ext uri="{FF2B5EF4-FFF2-40B4-BE49-F238E27FC236}">
                <a16:creationId xmlns:a16="http://schemas.microsoft.com/office/drawing/2014/main" id="{649A5FC1-F6C5-7AF1-C9B0-E1ACB6D93B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4928" y="2347621"/>
            <a:ext cx="4623071" cy="4438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91EDFC-A609-6928-53A5-3F993E63B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592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4BE3F-84C7-032F-A0EF-033796D9C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Implementation of iNTT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820E318-E66C-AF7B-153E-93A29D8035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1056" y="1690688"/>
            <a:ext cx="4892386" cy="27622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AE45FF-EE2D-B528-57EB-780C60C892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921" y="1690688"/>
            <a:ext cx="5613400" cy="481581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0DD482C-E2A8-9E62-DA7F-7BDC58ED11A1}"/>
              </a:ext>
            </a:extLst>
          </p:cNvPr>
          <p:cNvSpPr txBox="1">
            <a:spLocks/>
          </p:cNvSpPr>
          <p:nvPr/>
        </p:nvSpPr>
        <p:spPr>
          <a:xfrm>
            <a:off x="541056" y="50387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TH" b="1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D1832CB-791E-34AD-94B6-3BE3C291BA4E}"/>
              </a:ext>
            </a:extLst>
          </p:cNvPr>
          <p:cNvSpPr txBox="1">
            <a:spLocks/>
          </p:cNvSpPr>
          <p:nvPr/>
        </p:nvSpPr>
        <p:spPr>
          <a:xfrm>
            <a:off x="684721" y="468233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Differences:</a:t>
            </a:r>
          </a:p>
          <a:p>
            <a:pPr lvl="1"/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Stride, omega value and scale down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762FBA-011C-9129-75BF-CBFF8780A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977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C2D9A-BC59-C661-6D39-6A80D2E23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How to use NTT and iNTT to perform NWC of 2 polynomials?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56DF5-3427-1AF0-3CC7-9116EC925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p and q represent vector of coefficients in polynomial P,Q</a:t>
            </a:r>
            <a:endParaRPr lang="en-TH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BF61A2-77D7-7A27-E29F-B223727E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2301575"/>
            <a:ext cx="7861300" cy="401032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9712FD-72B0-B5E2-2236-265C0C42F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4705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15B65-ED87-31C6-C430-B4EEBCE98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Implementation of NTT on polynomial rings (NWC) 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AC7020-C5B5-4969-873A-19C1A70DA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632" y="1917700"/>
            <a:ext cx="5719567" cy="447754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1F2C9A-1391-DB3B-022F-2E9CFA2ED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546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79C19-6168-B8CD-3E10-37823112A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What if we can somehow do the reduction also as part of the NTT?</a:t>
            </a:r>
            <a:endParaRPr lang="en-TH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CE3B08-7AB2-96CF-316B-4286DAA77E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8100" y="2019300"/>
                <a:ext cx="6756400" cy="4351338"/>
              </a:xfrm>
            </p:spPr>
            <p:txBody>
              <a:bodyPr/>
              <a:lstStyle/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 if the point x where we evaluate happens to be a root of  </a:t>
                </a:r>
                <a14:m>
                  <m:oMath xmlns:m="http://schemas.openxmlformats.org/officeDocument/2006/math">
                    <m:r>
                      <a:rPr lang="en-US" sz="19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𝜙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(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𝑥</m:t>
                    </m:r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)</m:t>
                    </m:r>
                  </m:oMath>
                </a14:m>
                <a:r>
                  <a:rPr lang="en-US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, 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i.e</a:t>
                </a:r>
                <a:r>
                  <a:rPr lang="en-US" dirty="0">
                    <a:ea typeface="Cambria Math" panose="02040503050406030204" pitchFamily="18" charset="0"/>
                    <a:cs typeface="Angsana New" panose="02020603050405020304" pitchFamily="18" charset="-3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9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𝜙</m:t>
                    </m:r>
                    <m:d>
                      <m:dPr>
                        <m:ctrlP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</m:ctrlPr>
                      </m:d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ngsana New" panose="02020603050405020304" pitchFamily="18" charset="-34"/>
                          </a:rPr>
                          <m:t>𝑥</m:t>
                        </m:r>
                      </m:e>
                    </m:d>
                    <m:r>
                      <a:rPr lang="en-US" sz="1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ngsana New" panose="02020603050405020304" pitchFamily="18" charset="-34"/>
                      </a:rPr>
                      <m:t>=0</m:t>
                    </m:r>
                  </m:oMath>
                </a14:m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, , then in the evaluation form the reduction has no effect</a:t>
                </a:r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CE3B08-7AB2-96CF-316B-4286DAA77E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8100" y="2019300"/>
                <a:ext cx="6756400" cy="4351338"/>
              </a:xfrm>
              <a:blipFill>
                <a:blip r:embed="rId2"/>
                <a:stretch>
                  <a:fillRect l="-1689" t="-2035" r="-938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2905B84-7DC7-CE36-BAE8-C3AB8EA7F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19300"/>
            <a:ext cx="4017560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A54328B-0FB1-2329-F0BD-D3837D719C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300" y="2886869"/>
            <a:ext cx="7112000" cy="132080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4E36C9F-1ECB-D2A5-BBD8-DA82695AC271}"/>
              </a:ext>
            </a:extLst>
          </p:cNvPr>
          <p:cNvSpPr txBox="1">
            <a:spLocks/>
          </p:cNvSpPr>
          <p:nvPr/>
        </p:nvSpPr>
        <p:spPr>
          <a:xfrm>
            <a:off x="5118100" y="4317206"/>
            <a:ext cx="6756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since the coefficients will be automatically reduced and thus have order less than d, we don’t need to evaluate  2d points anymore.</a:t>
            </a:r>
            <a:endParaRPr lang="en-TH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407AE-956C-E086-2273-35D23BE84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3365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1964D21-8811-4140-7179-180CF1FF0ED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36550" y="365125"/>
                <a:ext cx="11518900" cy="1325563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Finding roots for negative wrapped convolution.</a:t>
                </a:r>
                <a:r>
                  <a:rPr lang="ar-AE" dirty="0">
                    <a:latin typeface="Angsana New" panose="02020603050405020304" pitchFamily="18" charset="-34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b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</a:br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1964D21-8811-4140-7179-180CF1FF0E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36550" y="365125"/>
                <a:ext cx="11518900" cy="1325563"/>
              </a:xfrm>
              <a:blipFill>
                <a:blip r:embed="rId2"/>
                <a:stretch>
                  <a:fillRect l="-1872" t="-10476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D35FC5-187E-D548-1D4E-B6D05BC0B9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50200" y="2180091"/>
                <a:ext cx="40640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</a:t>
                </a:r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he degree of </a:t>
                </a:r>
                <a14:m>
                  <m:oMath xmlns:m="http://schemas.openxmlformats.org/officeDocument/2006/math">
                    <m:r>
                      <a:rPr lang="en-TH" sz="19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will always be half of x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TH" sz="1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2 </m:t>
                        </m:r>
                      </m:sup>
                    </m:sSup>
                    <m:r>
                      <a:rPr lang="en-US" sz="1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TH" sz="1900" dirty="0">
                    <a:latin typeface="Angsana New" panose="02020603050405020304" pitchFamily="18" charset="-34"/>
                    <a:ea typeface="Cambria Math" panose="02040503050406030204" pitchFamily="18" charset="0"/>
                    <a:cs typeface="Angsana New" panose="02020603050405020304" pitchFamily="18" charset="-34"/>
                  </a:rPr>
                  <a:t> </a:t>
                </a:r>
                <a14:m>
                  <m:oMath xmlns:m="http://schemas.openxmlformats.org/officeDocument/2006/math">
                    <m:r>
                      <a:rPr lang="en-TH" sz="19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en-TH" sz="1900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Therefore, Introduce some more structure and assumptions to this problem to make the last split feasible.</a:t>
                </a:r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  <a:p>
                <a:r>
                  <a:rPr lang="en-TH" dirty="0">
                    <a:latin typeface="Angsana New" panose="02020603050405020304" pitchFamily="18" charset="-34"/>
                    <a:ea typeface="Cambria Math" panose="02040503050406030204" pitchFamily="18" charset="0"/>
                    <a:cs typeface="Angsana New" panose="02020603050405020304" pitchFamily="18" charset="-34"/>
                  </a:rPr>
                  <a:t>Roots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TH" sz="1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TH" sz="1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TH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splits the odd power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TH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TH" sz="1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D35FC5-187E-D548-1D4E-B6D05BC0B9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50200" y="2180091"/>
                <a:ext cx="4064000" cy="4351338"/>
              </a:xfrm>
              <a:blipFill>
                <a:blip r:embed="rId3"/>
                <a:stretch>
                  <a:fillRect l="-2484" t="-2326" r="-4037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8DE7E91-FFEB-4A96-1804-4465F0E54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825625"/>
            <a:ext cx="5943600" cy="2679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8316F65-AA19-61A4-908B-996E0B80B3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694237"/>
            <a:ext cx="7200900" cy="11684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FEE50-35A0-DDAE-3DF4-04AD3D989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DA258F-5046-546A-50B2-D170D54FD5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0050" y="1271627"/>
            <a:ext cx="3647044" cy="508756"/>
          </a:xfrm>
          <a:prstGeom prst="rect">
            <a:avLst/>
          </a:prstGeom>
        </p:spPr>
      </p:pic>
      <p:pic>
        <p:nvPicPr>
          <p:cNvPr id="1026" name="Picture 2" descr="How to Find the Roots of a Product of Polynomials | Algebra | Study.com">
            <a:extLst>
              <a:ext uri="{FF2B5EF4-FFF2-40B4-BE49-F238E27FC236}">
                <a16:creationId xmlns:a16="http://schemas.microsoft.com/office/drawing/2014/main" id="{6B64BEBC-2BA4-087C-6A01-57B6056AB3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152523"/>
            <a:ext cx="3268230" cy="1837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2027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BEC9540-E3D0-E41B-457D-DDE7BD8BE4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NTT algorithm that uses odd powers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T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T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BEC9540-E3D0-E41B-457D-DDE7BD8BE4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 b="-952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491A3C-FD6C-85F4-B7A5-1AACF2AD0F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39000" y="1825625"/>
                <a:ext cx="4495800" cy="4351338"/>
              </a:xfrm>
            </p:spPr>
            <p:txBody>
              <a:bodyPr/>
              <a:lstStyle/>
              <a:p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We can see that, evaluating the polynomial at the odd powers of  </a:t>
                </a:r>
                <a:r>
                  <a:rPr lang="en-TH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TH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TH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TH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 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is equivalent of multiplying the coefficients of the polynomial with powers of </a:t>
                </a:r>
                <a:r>
                  <a:rPr lang="en-TH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TH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TH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TH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 </a:t>
                </a:r>
                <a:r>
                  <a:rPr lang="en-US" sz="1900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 </a:t>
                </a:r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beforehand, and then feed into the regular length- NTT algorithm that uses </a:t>
                </a:r>
                <a:r>
                  <a:rPr lang="en-TH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TH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TH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dirty="0">
                    <a:latin typeface="Angsana New" panose="02020603050405020304" pitchFamily="18" charset="-34"/>
                    <a:cs typeface="Angsana New" panose="02020603050405020304" pitchFamily="18" charset="-34"/>
                  </a:rPr>
                  <a:t>.</a:t>
                </a:r>
                <a:endParaRPr lang="en-TH" dirty="0">
                  <a:latin typeface="Angsana New" panose="02020603050405020304" pitchFamily="18" charset="-34"/>
                  <a:cs typeface="Angsana New" panose="02020603050405020304" pitchFamily="18" charset="-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491A3C-FD6C-85F4-B7A5-1AACF2AD0F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39000" y="1825625"/>
                <a:ext cx="4495800" cy="4351338"/>
              </a:xfrm>
              <a:blipFill>
                <a:blip r:embed="rId3"/>
                <a:stretch>
                  <a:fillRect l="-2535" t="-2326" r="-3380"/>
                </a:stretch>
              </a:blipFill>
            </p:spPr>
            <p:txBody>
              <a:bodyPr/>
              <a:lstStyle/>
              <a:p>
                <a:r>
                  <a:rPr lang="en-T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EA0E1BC-2368-95BF-434B-2E5E9A665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825625"/>
            <a:ext cx="5892800" cy="37211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DA60B4-7FAE-B903-9C6C-C156B0A8B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2409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AA39-4139-77B5-AD8D-B3BB22785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Implementation of NTT NWC convolution without reduction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22DF94D-E571-7F79-2292-055F3BF4E4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775200" cy="450805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800171-D0B5-809A-76B5-6241CD0DEF22}"/>
              </a:ext>
            </a:extLst>
          </p:cNvPr>
          <p:cNvSpPr txBox="1">
            <a:spLocks/>
          </p:cNvSpPr>
          <p:nvPr/>
        </p:nvSpPr>
        <p:spPr>
          <a:xfrm>
            <a:off x="5762625" y="2204245"/>
            <a:ext cx="58293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Conclusion</a:t>
            </a:r>
          </a:p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What NTT really is?</a:t>
            </a:r>
          </a:p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How to efficiently run NTT recursively and iteratively- using Cooley-Tukey and Gentleman-Sande butterfly network </a:t>
            </a:r>
          </a:p>
          <a:p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Lastly, how to use NTT to perform convolution in negative wrapped scenarios. More importantly, how to save the extra reduction step by picking the right generators</a:t>
            </a:r>
          </a:p>
          <a:p>
            <a:endParaRPr lang="en-TH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854500-76E6-8219-FAF9-AAD7925AB7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57" t="82692"/>
          <a:stretch>
            <a:fillRect/>
          </a:stretch>
        </p:blipFill>
        <p:spPr>
          <a:xfrm>
            <a:off x="5613400" y="1690688"/>
            <a:ext cx="3676650" cy="51355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96BB43-930A-B4B3-900E-5EE8314C2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7792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20D3A-7016-8FD1-5C14-D28F58811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Reference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EAC45-39DF-53DA-B606-F8882F41F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https://</a:t>
            </a:r>
            <a:r>
              <a:rPr lang="en-US" dirty="0" err="1">
                <a:latin typeface="Angsana New" panose="02020603050405020304" pitchFamily="18" charset="-34"/>
                <a:cs typeface="Angsana New" panose="02020603050405020304" pitchFamily="18" charset="-34"/>
              </a:rPr>
              <a:t>cryptographycaffe.sandboxaq.com</a:t>
            </a:r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/posts/ntt-01/</a:t>
            </a:r>
          </a:p>
          <a:p>
            <a:pPr marL="0" indent="0">
              <a:buNone/>
            </a:pPr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https://</a:t>
            </a:r>
            <a:r>
              <a:rPr lang="en-US" dirty="0" err="1">
                <a:latin typeface="Angsana New" panose="02020603050405020304" pitchFamily="18" charset="-34"/>
                <a:cs typeface="Angsana New" panose="02020603050405020304" pitchFamily="18" charset="-34"/>
              </a:rPr>
              <a:t>higashi.blog</a:t>
            </a:r>
            <a:r>
              <a:rPr lang="en-US" dirty="0">
                <a:latin typeface="Angsana New" panose="02020603050405020304" pitchFamily="18" charset="-34"/>
                <a:cs typeface="Angsana New" panose="02020603050405020304" pitchFamily="18" charset="-34"/>
              </a:rPr>
              <a:t>/2023/06/23/ntt-02/</a:t>
            </a:r>
            <a:endParaRPr lang="en-TH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1B690-567D-B10F-5E09-9D20878B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071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E11A9-2122-43C2-3BDC-65FA40E56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A069A-058D-5E35-F8D8-E5733C8C8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Kyber NTT implementation</a:t>
            </a:r>
          </a:p>
          <a:p>
            <a:r>
              <a:rPr lang="en-TH" dirty="0">
                <a:latin typeface="Angsana New" panose="02020603050405020304" pitchFamily="18" charset="-34"/>
                <a:cs typeface="Angsana New" panose="02020603050405020304" pitchFamily="18" charset="-34"/>
              </a:rPr>
              <a:t>Verilog implementation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76C73-55E0-B3B4-44D4-577322997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730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562</TotalTime>
  <Words>1730</Words>
  <Application>Microsoft Macintosh PowerPoint</Application>
  <PresentationFormat>Widescreen</PresentationFormat>
  <Paragraphs>155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Angsana New</vt:lpstr>
      <vt:lpstr>Arial</vt:lpstr>
      <vt:lpstr>Calibri</vt:lpstr>
      <vt:lpstr>Calibri Light</vt:lpstr>
      <vt:lpstr>Cambria Math</vt:lpstr>
      <vt:lpstr>Office Theme</vt:lpstr>
      <vt:lpstr>Implementation of NTT</vt:lpstr>
      <vt:lpstr>Finite field and Rings</vt:lpstr>
      <vt:lpstr>Negative Wrapped Convolution (NWC) x^d+1 </vt:lpstr>
      <vt:lpstr>Evaluation Form</vt:lpstr>
      <vt:lpstr>Implementation of fast polynomial multiplication using Evaluation form</vt:lpstr>
      <vt:lpstr>What about the ring (Nwc)</vt:lpstr>
      <vt:lpstr>NTT</vt:lpstr>
      <vt:lpstr>Relationship to evaluation form and inverse NTT</vt:lpstr>
      <vt:lpstr>Recursive NTT</vt:lpstr>
      <vt:lpstr>Recursive NTT runtime</vt:lpstr>
      <vt:lpstr>PowerPoint Presentation</vt:lpstr>
      <vt:lpstr>Iterative NTT</vt:lpstr>
      <vt:lpstr>Iterative NTT</vt:lpstr>
      <vt:lpstr>Implementation of Iterative NTT</vt:lpstr>
      <vt:lpstr>Implementation of Iterative NTT</vt:lpstr>
      <vt:lpstr>Iterative iNTT</vt:lpstr>
      <vt:lpstr>Implementation of iNTT</vt:lpstr>
      <vt:lpstr>How to use NTT and iNTT to perform NWC of 2 polynomials?</vt:lpstr>
      <vt:lpstr>Implementation of NTT on polynomial rings (NWC)  </vt:lpstr>
      <vt:lpstr>What if we can somehow do the reduction also as part of the NTT?</vt:lpstr>
      <vt:lpstr>Finding roots for negative wrapped convolution. x^d+1 </vt:lpstr>
      <vt:lpstr>NTT algorithm that uses odd powers of ψ_2d </vt:lpstr>
      <vt:lpstr>Implementation of NTT NWC convolution without reduction</vt:lpstr>
      <vt:lpstr>Reference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Tony Sleep</dc:creator>
  <cp:lastModifiedBy>Tony Sleep</cp:lastModifiedBy>
  <cp:revision>2</cp:revision>
  <dcterms:created xsi:type="dcterms:W3CDTF">2025-09-14T15:44:25Z</dcterms:created>
  <dcterms:modified xsi:type="dcterms:W3CDTF">2025-09-15T11:47:50Z</dcterms:modified>
</cp:coreProperties>
</file>