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1" r:id="rId2"/>
  </p:sldMasterIdLst>
  <p:notesMasterIdLst>
    <p:notesMasterId r:id="rId28"/>
  </p:notesMasterIdLst>
  <p:sldIdLst>
    <p:sldId id="256" r:id="rId3"/>
    <p:sldId id="257" r:id="rId4"/>
    <p:sldId id="258" r:id="rId5"/>
    <p:sldId id="279" r:id="rId6"/>
    <p:sldId id="28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80" r:id="rId25"/>
    <p:sldId id="281" r:id="rId26"/>
    <p:sldId id="278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30" roundtripDataSignature="AMtx7miVo/kcNrzhhe5bHnrMGOFD03oz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279EE3-23FE-FD64-E6BB-7B34CB6CDCAC}" v="14" dt="2026-01-15T07:31:28.955"/>
    <p1510:client id="{2B37C614-E763-2598-4175-C87CB5CBADC7}" v="84" dt="2026-01-15T02:29:37.801"/>
    <p1510:client id="{51AD6F22-C351-9E0D-23D5-7247A76689D3}" v="76" dt="2026-01-15T07:28:02.530"/>
    <p1510:client id="{5A5E170B-EBA4-4F54-631C-E150B1966543}" v="519" dt="2026-01-14T07:22:55.861"/>
    <p1510:client id="{90F69EEB-978B-F927-6314-D3DC584A3201}" v="20" dt="2026-01-15T07:05:56.219"/>
    <p1510:client id="{A6AC7602-FCB1-1C69-8D9C-0FFACB7EF078}" v="1032" dt="2026-01-15T05:30:05.187"/>
    <p1510:client id="{B5987C9A-BF2B-959D-1D62-4BE8B549A601}" v="420" dt="2026-01-15T06:16:54.709"/>
  </p1510:revLst>
</p1510:revInfo>
</file>

<file path=ppt/tableStyles.xml><?xml version="1.0" encoding="utf-8"?>
<a:tblStyleLst xmlns:a="http://schemas.openxmlformats.org/drawingml/2006/main" def="{5D17D68D-C89F-4385-A75A-1CB72AB6AE1E}">
  <a:tblStyle styleId="{5D17D68D-C89F-4385-A75A-1CB72AB6AE1E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DF0E7"/>
          </a:solidFill>
        </a:fill>
      </a:tcStyle>
    </a:wholeTbl>
    <a:band1H>
      <a:tcTxStyle/>
      <a:tcStyle>
        <a:tcBdr/>
        <a:fill>
          <a:solidFill>
            <a:srgbClr val="FBDF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BDF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customschemas.google.com/relationships/presentationmetadata" Target="metadata"/><Relationship Id="rId35" Type="http://schemas.microsoft.com/office/2015/10/relationships/revisionInfo" Target="revisionInfo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9" name="Google Shape;27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3" name="Google Shape;35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3" name="Google Shape;403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0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1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1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3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33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Times New Roman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3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4" name="Google Shape;54;p33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5" name="Google Shape;55;p3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3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1" name="Google Shape;61;p2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2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4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72" name="Google Shape;72;p34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3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6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6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Times New Roman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6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8" name="Google Shape;88;p36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3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6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7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7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3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3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3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8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8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3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3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3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2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2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researchgate.net/publication/371388643_Resilience_Optimization_of_Post-Quantum_Cryptography_Key_Encapsulation_Algorithms" TargetMode="External"/><Relationship Id="rId5" Type="http://schemas.openxmlformats.org/officeDocument/2006/relationships/image" Target="../media/image2.png"/><Relationship Id="rId4" Type="http://schemas.openxmlformats.org/officeDocument/2006/relationships/hyperlink" Target="https://www.coengoedegebure.com/surviving-an-infosec-job-interview-cryptography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ryptography101.ca/kyber-dilithium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researchgate.net/publication/371388643_Resilience_Optimization_of_Post-Quantum_Cryptography_Key_Encapsulation_Algorithms" TargetMode="External"/><Relationship Id="rId5" Type="http://schemas.openxmlformats.org/officeDocument/2006/relationships/hyperlink" Target="https://csrc.nist.gov/pubs/fips/203/final" TargetMode="External"/><Relationship Id="rId4" Type="http://schemas.openxmlformats.org/officeDocument/2006/relationships/hyperlink" Target="https://pq-crystals.org/index.s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84974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</a:pPr>
            <a:r>
              <a:rPr lang="en-US" dirty="0"/>
              <a:t>KYBER</a:t>
            </a:r>
          </a:p>
        </p:txBody>
      </p:sp>
      <p:sp>
        <p:nvSpPr>
          <p:cNvPr id="109" name="Google Shape;109;p1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buSzPts val="2400"/>
            </a:pPr>
            <a:r>
              <a:rPr lang="en-US" sz="2400" dirty="0"/>
              <a:t>By </a:t>
            </a:r>
            <a:r>
              <a:rPr lang="en-US" sz="2400" dirty="0" err="1"/>
              <a:t>Panawattanakul</a:t>
            </a:r>
            <a:r>
              <a:rPr lang="en-US" sz="2400" dirty="0"/>
              <a:t> </a:t>
            </a:r>
            <a:r>
              <a:rPr lang="en-US" sz="2400" dirty="0" err="1"/>
              <a:t>Pakin</a:t>
            </a:r>
            <a:endParaRPr dirty="0" err="1"/>
          </a:p>
          <a:p>
            <a:pPr marL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2400" dirty="0"/>
              <a:t>15/01/2026</a:t>
            </a:r>
            <a:endParaRPr sz="2400" dirty="0"/>
          </a:p>
        </p:txBody>
      </p:sp>
      <p:sp>
        <p:nvSpPr>
          <p:cNvPr id="110" name="Google Shape;110;p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"/>
          <p:cNvSpPr txBox="1">
            <a:spLocks noGrp="1"/>
          </p:cNvSpPr>
          <p:nvPr>
            <p:ph type="title"/>
          </p:nvPr>
        </p:nvSpPr>
        <p:spPr>
          <a:xfrm>
            <a:off x="2231136" y="707517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Times New Roman"/>
              <a:buNone/>
            </a:pPr>
            <a:r>
              <a:rPr lang="en-US" sz="4000"/>
              <a:t>PRESENTATION OUTLINE</a:t>
            </a:r>
            <a:endParaRPr sz="4000"/>
          </a:p>
        </p:txBody>
      </p:sp>
      <p:sp>
        <p:nvSpPr>
          <p:cNvPr id="116" name="Google Shape;116;p2"/>
          <p:cNvSpPr txBox="1">
            <a:spLocks noGrp="1"/>
          </p:cNvSpPr>
          <p:nvPr>
            <p:ph type="body" idx="1"/>
          </p:nvPr>
        </p:nvSpPr>
        <p:spPr>
          <a:xfrm>
            <a:off x="2231136" y="2282952"/>
            <a:ext cx="7960614" cy="4296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AutoNum type="arabicPeriod"/>
            </a:pPr>
            <a:r>
              <a:rPr lang="en-US" sz="2400" dirty="0"/>
              <a:t>Introduction</a:t>
            </a:r>
            <a:endParaRPr lang="en-US" dirty="0"/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400"/>
              <a:buFont typeface="Courier New"/>
              <a:buChar char="o"/>
            </a:pPr>
            <a:r>
              <a:rPr lang="en-US" sz="2200" dirty="0"/>
              <a:t>Presentation Objective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400"/>
              <a:buFont typeface="Courier New"/>
              <a:buChar char="o"/>
            </a:pPr>
            <a:r>
              <a:rPr lang="en-US" sz="2200" dirty="0"/>
              <a:t>Definition of Postquantum Cryptography</a:t>
            </a:r>
          </a:p>
          <a:p>
            <a:pPr marL="342900">
              <a:lnSpc>
                <a:spcPct val="150000"/>
              </a:lnSpc>
              <a:buSzPts val="2400"/>
              <a:buFont typeface="Times New Roman"/>
              <a:buAutoNum type="arabicPeriod"/>
            </a:pPr>
            <a:r>
              <a:rPr lang="en-US" sz="2400" dirty="0"/>
              <a:t>Kyber</a:t>
            </a:r>
            <a:endParaRPr dirty="0"/>
          </a:p>
          <a:p>
            <a:pPr marL="800100" lvl="1">
              <a:lnSpc>
                <a:spcPct val="150000"/>
              </a:lnSpc>
              <a:buSzPts val="2400"/>
              <a:buFont typeface="Courier New"/>
              <a:buChar char="o"/>
            </a:pPr>
            <a:r>
              <a:rPr lang="en-US" sz="2200" dirty="0"/>
              <a:t>PKE : Public Key Encryption</a:t>
            </a:r>
          </a:p>
          <a:p>
            <a:pPr marL="800100" lvl="1">
              <a:lnSpc>
                <a:spcPct val="150000"/>
              </a:lnSpc>
              <a:buSzPts val="2400"/>
              <a:buFont typeface="Courier New"/>
              <a:buChar char="o"/>
            </a:pPr>
            <a:r>
              <a:rPr lang="en-US" sz="2200" dirty="0"/>
              <a:t>KEM : Key Encapsulation Mechanism</a:t>
            </a:r>
          </a:p>
          <a:p>
            <a:pPr marL="342900">
              <a:lnSpc>
                <a:spcPct val="150000"/>
              </a:lnSpc>
              <a:buSzPts val="2400"/>
              <a:buAutoNum type="arabicPeriod"/>
            </a:pPr>
            <a:r>
              <a:rPr lang="en-US" sz="2400" dirty="0"/>
              <a:t>Project progression</a:t>
            </a:r>
          </a:p>
        </p:txBody>
      </p:sp>
      <p:sp>
        <p:nvSpPr>
          <p:cNvPr id="117" name="Google Shape;117;p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3" name="Google Shape;123;p3"/>
          <p:cNvSpPr txBox="1">
            <a:spLocks noGrp="1"/>
          </p:cNvSpPr>
          <p:nvPr>
            <p:ph type="title"/>
          </p:nvPr>
        </p:nvSpPr>
        <p:spPr>
          <a:xfrm>
            <a:off x="1600200" y="2363323"/>
            <a:ext cx="8991600" cy="1692771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</a:pPr>
            <a:r>
              <a:rPr lang="en-US" sz="3800" cap="none">
                <a:solidFill>
                  <a:srgbClr val="262626"/>
                </a:solidFill>
              </a:rPr>
              <a:t>INTRODUCTION</a:t>
            </a:r>
            <a:endParaRPr/>
          </a:p>
        </p:txBody>
      </p:sp>
      <p:sp>
        <p:nvSpPr>
          <p:cNvPr id="124" name="Google Shape;124;p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C438E-0E31-9B4C-AE06-43C6863E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Presentation Objective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7A820-C8F0-2FA2-DEB9-DC67AD7936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CD5E2-4410-CAF5-C9CF-3A7D2C94FDB6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2228850" y="2667000"/>
            <a:ext cx="7731125" cy="3101975"/>
          </a:xfrm>
        </p:spPr>
        <p:txBody>
          <a:bodyPr/>
          <a:lstStyle/>
          <a:p>
            <a:pPr marL="400050" indent="-285750">
              <a:lnSpc>
                <a:spcPct val="200000"/>
              </a:lnSpc>
              <a:buFont typeface="Calibri"/>
              <a:buChar char="-"/>
            </a:pPr>
            <a:r>
              <a:rPr lang="en-US" sz="2400" dirty="0"/>
              <a:t>Definition of Post-quantum Cryptography</a:t>
            </a:r>
          </a:p>
          <a:p>
            <a:pPr marL="400050" indent="-285750">
              <a:lnSpc>
                <a:spcPct val="200000"/>
              </a:lnSpc>
              <a:buFont typeface="Calibri"/>
              <a:buChar char="-"/>
            </a:pPr>
            <a:r>
              <a:rPr lang="en-US" sz="2400" dirty="0"/>
              <a:t>Explain basic of Kyber PKE and Kyber KEM</a:t>
            </a:r>
          </a:p>
          <a:p>
            <a:pPr marL="400050" indent="-285750">
              <a:lnSpc>
                <a:spcPct val="200000"/>
              </a:lnSpc>
              <a:buFont typeface="Calibri"/>
              <a:buChar char="-"/>
            </a:pPr>
            <a:r>
              <a:rPr lang="en-US" sz="2400" dirty="0"/>
              <a:t>Report our current progress</a:t>
            </a:r>
          </a:p>
        </p:txBody>
      </p:sp>
    </p:spTree>
    <p:extLst>
      <p:ext uri="{BB962C8B-B14F-4D97-AF65-F5344CB8AC3E}">
        <p14:creationId xmlns:p14="http://schemas.microsoft.com/office/powerpoint/2010/main" val="1863520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8DF95-8BC5-2ADC-EBDA-D38046A7D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7663"/>
            <a:ext cx="7729728" cy="1188720"/>
          </a:xfrm>
        </p:spPr>
        <p:txBody>
          <a:bodyPr/>
          <a:lstStyle/>
          <a:p>
            <a:r>
              <a:rPr lang="en-US" dirty="0"/>
              <a:t>Post-quantum cryptography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282187-D147-AEEA-B4C9-130CB0DD27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4A3FCC-989F-1AD6-2096-B2357D488A97}"/>
              </a:ext>
            </a:extLst>
          </p:cNvPr>
          <p:cNvSpPr txBox="1"/>
          <p:nvPr/>
        </p:nvSpPr>
        <p:spPr>
          <a:xfrm>
            <a:off x="2133600" y="2343150"/>
            <a:ext cx="7924800" cy="4191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u="sng" dirty="0">
                <a:latin typeface="Times New Roman"/>
              </a:rPr>
              <a:t>Definition from Caltech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/>
              </a:rPr>
              <a:t>"Post-quantum cryptography</a:t>
            </a:r>
            <a:r>
              <a:rPr lang="en-US" sz="2000" dirty="0">
                <a:latin typeface="Times New Roman"/>
              </a:rPr>
              <a:t>, also known as quantum-proof cryptography, aims to create encryption methods that cannot be broken by algorithms, or calculations, that run on future quantum computers."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/>
            </a:endParaRPr>
          </a:p>
          <a:p>
            <a:pPr>
              <a:lnSpc>
                <a:spcPct val="150000"/>
              </a:lnSpc>
            </a:pPr>
            <a:r>
              <a:rPr lang="en-US" sz="2000" b="1" u="sng" dirty="0">
                <a:latin typeface="Times New Roman"/>
              </a:rPr>
              <a:t>My definition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/>
              </a:rPr>
              <a:t>A very complex cryptographic algorithms</a:t>
            </a:r>
            <a:r>
              <a:rPr lang="en-US" sz="2000">
                <a:latin typeface="Times New Roman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Times New Roman"/>
              </a:rPr>
              <a:t>+ random error(noise) : imitate quantum uncertainty principle</a:t>
            </a:r>
            <a:endParaRPr lang="en-US">
              <a:latin typeface="Times New Roman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445D43-F20B-9280-928B-DC91C5E0AB3A}"/>
              </a:ext>
            </a:extLst>
          </p:cNvPr>
          <p:cNvSpPr txBox="1"/>
          <p:nvPr/>
        </p:nvSpPr>
        <p:spPr>
          <a:xfrm>
            <a:off x="2057400" y="6076950"/>
            <a:ext cx="76581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https://scienceexchange.caltech.edu/topics/quantum-science-explained/quantum-cryptography</a:t>
            </a:r>
          </a:p>
          <a:p>
            <a:pPr algn="ctr"/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541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"/>
          <p:cNvSpPr txBox="1">
            <a:spLocks noGrp="1"/>
          </p:cNvSpPr>
          <p:nvPr>
            <p:ph type="title"/>
          </p:nvPr>
        </p:nvSpPr>
        <p:spPr>
          <a:xfrm>
            <a:off x="597336" y="2490283"/>
            <a:ext cx="5602383" cy="1877437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</a:pPr>
            <a:r>
              <a:rPr lang="en-US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KYBER-PKE </a:t>
            </a:r>
            <a:r>
              <a:rPr lang="en-US"/>
              <a:t>&amp;</a:t>
            </a:r>
            <a:r>
              <a:rPr lang="en-US" cap="non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KYBER-KEM</a:t>
            </a:r>
            <a:endParaRPr cap="non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6781415" y="0"/>
            <a:ext cx="5410585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6"/>
          <p:cNvSpPr txBox="1">
            <a:spLocks noGrp="1"/>
          </p:cNvSpPr>
          <p:nvPr>
            <p:ph type="body" idx="1"/>
          </p:nvPr>
        </p:nvSpPr>
        <p:spPr>
          <a:xfrm>
            <a:off x="7201726" y="2278369"/>
            <a:ext cx="4894031" cy="2257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rmAutofit fontScale="92500"/>
          </a:bodyPr>
          <a:lstStyle/>
          <a:p>
            <a:pPr marL="0" indent="0">
              <a:lnSpc>
                <a:spcPct val="200000"/>
              </a:lnSpc>
              <a:spcBef>
                <a:spcPts val="0"/>
              </a:spcBef>
              <a:buSzPct val="100000"/>
            </a:pPr>
            <a:r>
              <a:rPr lang="en-US" sz="2400" dirty="0">
                <a:solidFill>
                  <a:srgbClr val="3F3F3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Kyber-KEM </a:t>
            </a:r>
            <a:r>
              <a:rPr lang="en-US" sz="2400" dirty="0">
                <a:solidFill>
                  <a:srgbClr val="3F3F3F"/>
                </a:solidFill>
              </a:rPr>
              <a:t>&gt; Post-quantum cryptographic algorithms</a:t>
            </a:r>
            <a:endParaRPr lang="en-US" sz="2400" dirty="0">
              <a:solidFill>
                <a:srgbClr val="FFFFFF"/>
              </a:solidFill>
            </a:endParaRPr>
          </a:p>
          <a:p>
            <a:pPr marL="0" indent="0">
              <a:lnSpc>
                <a:spcPct val="200000"/>
              </a:lnSpc>
              <a:spcBef>
                <a:spcPts val="0"/>
              </a:spcBef>
            </a:pPr>
            <a:r>
              <a:rPr lang="en-US" sz="1600" dirty="0">
                <a:solidFill>
                  <a:srgbClr val="3F3F3F"/>
                </a:solidFill>
              </a:rPr>
              <a:t>Chose to</a:t>
            </a:r>
            <a:r>
              <a:rPr lang="en-US" sz="1600" dirty="0">
                <a:solidFill>
                  <a:srgbClr val="3F3F3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be standard Key encapsulation algorithm by NIST</a:t>
            </a:r>
            <a:endParaRPr lang="en-US" sz="1600"/>
          </a:p>
          <a:p>
            <a:pPr marL="342900" lvl="0" indent="-225425" algn="ctr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None/>
            </a:pPr>
            <a:endParaRPr sz="1600" dirty="0">
              <a:solidFill>
                <a:srgbClr val="3F3F3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4" name="Google Shape;154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t>6</a:t>
            </a:fld>
            <a:endParaRPr>
              <a:solidFill>
                <a:srgbClr val="FFFFFF"/>
              </a:solidFill>
            </a:endParaRPr>
          </a:p>
        </p:txBody>
      </p:sp>
      <p:sp>
        <p:nvSpPr>
          <p:cNvPr id="155" name="Google Shape;155;p6"/>
          <p:cNvSpPr txBox="1"/>
          <p:nvPr/>
        </p:nvSpPr>
        <p:spPr>
          <a:xfrm>
            <a:off x="250166" y="5201728"/>
            <a:ext cx="11471252" cy="1468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NIST (National Institute of Standards and Technology) is a U.S. agency that develops and promotes standards for technology, including cybersecurity and cryptography.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"/>
          <p:cNvSpPr txBox="1">
            <a:spLocks noGrp="1"/>
          </p:cNvSpPr>
          <p:nvPr>
            <p:ph type="body" idx="1"/>
          </p:nvPr>
        </p:nvSpPr>
        <p:spPr>
          <a:xfrm>
            <a:off x="1055109" y="4608250"/>
            <a:ext cx="4271771" cy="1124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Public key encryption(PKE)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Encrypted message</a:t>
            </a:r>
            <a:endParaRPr/>
          </a:p>
        </p:txBody>
      </p:sp>
      <p:sp>
        <p:nvSpPr>
          <p:cNvPr id="161" name="Google Shape;161;p7"/>
          <p:cNvSpPr txBox="1">
            <a:spLocks noGrp="1"/>
          </p:cNvSpPr>
          <p:nvPr>
            <p:ph type="body" idx="2"/>
          </p:nvPr>
        </p:nvSpPr>
        <p:spPr>
          <a:xfrm>
            <a:off x="6459125" y="4671541"/>
            <a:ext cx="4855511" cy="1240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Key Encapsulation Mechanism (KEM)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Established shared secret key (symmetric key)</a:t>
            </a:r>
            <a:endParaRPr/>
          </a:p>
        </p:txBody>
      </p:sp>
      <p:sp>
        <p:nvSpPr>
          <p:cNvPr id="162" name="Google Shape;162;p7"/>
          <p:cNvSpPr>
            <a:spLocks noGrp="1"/>
          </p:cNvSpPr>
          <p:nvPr>
            <p:ph type="sldNum" idx="12"/>
          </p:nvPr>
        </p:nvSpPr>
        <p:spPr>
          <a:xfrm>
            <a:off x="11369172" y="626230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163" name="Google Shape;163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8882" y="804726"/>
            <a:ext cx="4726049" cy="3330593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7"/>
          <p:cNvSpPr txBox="1"/>
          <p:nvPr/>
        </p:nvSpPr>
        <p:spPr>
          <a:xfrm>
            <a:off x="317124" y="6306681"/>
            <a:ext cx="544957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rgbClr val="6B889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https://www.coengoedegebure.com/surviving-an-infosec-job-interview-cryptography/</a:t>
            </a:r>
            <a:endParaRPr sz="1200">
              <a:solidFill>
                <a:srgbClr val="6B889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5" name="Google Shape;165;p7" descr="Key encapsulation mechanism detail. | Download Scientific Diagram"/>
          <p:cNvPicPr preferRelativeResize="0"/>
          <p:nvPr/>
        </p:nvPicPr>
        <p:blipFill rotWithShape="1">
          <a:blip r:embed="rId5">
            <a:alphaModFix/>
          </a:blip>
          <a:srcRect b="7002"/>
          <a:stretch/>
        </p:blipFill>
        <p:spPr>
          <a:xfrm>
            <a:off x="6459125" y="405317"/>
            <a:ext cx="4271771" cy="391639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7"/>
          <p:cNvSpPr txBox="1"/>
          <p:nvPr/>
        </p:nvSpPr>
        <p:spPr>
          <a:xfrm>
            <a:off x="6012180" y="6262300"/>
            <a:ext cx="59969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rgbClr val="6B889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https://www.researchgate.net/publication/371388643_Resilience_Optimization_of_Post-Quantum_Cryptography_Key_Encapsulation_Algorithms</a:t>
            </a:r>
            <a:endParaRPr sz="1200">
              <a:solidFill>
                <a:srgbClr val="6B889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 txBox="1">
            <a:spLocks noGrp="1"/>
          </p:cNvSpPr>
          <p:nvPr>
            <p:ph type="title"/>
          </p:nvPr>
        </p:nvSpPr>
        <p:spPr>
          <a:xfrm>
            <a:off x="965198" y="2490283"/>
            <a:ext cx="5602383" cy="1877437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IMPORTANT MATH NOTATION</a:t>
            </a:r>
            <a:endParaRPr sz="3800" cap="non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7534656" y="0"/>
            <a:ext cx="4657344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3" name="Google Shape;173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t>8</a:t>
            </a:fld>
            <a:endParaRPr>
              <a:solidFill>
                <a:srgbClr val="FFFFFF"/>
              </a:solidFill>
            </a:endParaRPr>
          </a:p>
        </p:txBody>
      </p:sp>
      <p:sp>
        <p:nvSpPr>
          <p:cNvPr id="174" name="Google Shape;174;p8"/>
          <p:cNvSpPr txBox="1"/>
          <p:nvPr/>
        </p:nvSpPr>
        <p:spPr>
          <a:xfrm>
            <a:off x="7716666" y="2068286"/>
            <a:ext cx="4293324" cy="30101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993" b="-222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"/>
          <p:cNvSpPr txBox="1">
            <a:spLocks noGrp="1"/>
          </p:cNvSpPr>
          <p:nvPr>
            <p:ph type="body" idx="1"/>
          </p:nvPr>
        </p:nvSpPr>
        <p:spPr>
          <a:xfrm>
            <a:off x="626058" y="274320"/>
            <a:ext cx="4704700" cy="613293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555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 </a:t>
            </a:r>
            <a:endParaRPr/>
          </a:p>
        </p:txBody>
      </p:sp>
      <p:sp>
        <p:nvSpPr>
          <p:cNvPr id="180" name="Google Shape;180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181" name="Google Shape;18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3581" y="3090337"/>
            <a:ext cx="2906213" cy="263925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9"/>
          <p:cNvSpPr txBox="1"/>
          <p:nvPr/>
        </p:nvSpPr>
        <p:spPr>
          <a:xfrm>
            <a:off x="4994908" y="2650526"/>
            <a:ext cx="7197000" cy="374100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l="-84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83" name="Google Shape;183;p9"/>
          <p:cNvSpPr txBox="1"/>
          <p:nvPr/>
        </p:nvSpPr>
        <p:spPr>
          <a:xfrm>
            <a:off x="4994908" y="274320"/>
            <a:ext cx="7067100" cy="24165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775" b="-378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8244650" y="4621060"/>
            <a:ext cx="264048" cy="41828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85" name="Google Shape;185;p9"/>
          <p:cNvCxnSpPr/>
          <p:nvPr/>
        </p:nvCxnSpPr>
        <p:spPr>
          <a:xfrm>
            <a:off x="4815191" y="274320"/>
            <a:ext cx="0" cy="630936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6" name="Google Shape;186;p9"/>
          <p:cNvSpPr txBox="1"/>
          <p:nvPr/>
        </p:nvSpPr>
        <p:spPr>
          <a:xfrm>
            <a:off x="8690110" y="5543232"/>
            <a:ext cx="3055065" cy="36933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1795" t="-8196" b="-24589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8246346" y="5506273"/>
            <a:ext cx="264048" cy="41828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8690110" y="4621060"/>
            <a:ext cx="30550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coef. mod q</a:t>
            </a:r>
            <a:endParaRPr sz="1800" b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grpSp>
        <p:nvGrpSpPr>
          <p:cNvPr id="194" name="Google Shape;194;p10"/>
          <p:cNvGrpSpPr/>
          <p:nvPr/>
        </p:nvGrpSpPr>
        <p:grpSpPr>
          <a:xfrm>
            <a:off x="568977" y="1561307"/>
            <a:ext cx="11551104" cy="2865721"/>
            <a:chOff x="1030002" y="2640531"/>
            <a:chExt cx="11551104" cy="2865721"/>
          </a:xfrm>
        </p:grpSpPr>
        <p:sp>
          <p:nvSpPr>
            <p:cNvPr id="195" name="Google Shape;195;p10"/>
            <p:cNvSpPr txBox="1"/>
            <p:nvPr/>
          </p:nvSpPr>
          <p:spPr>
            <a:xfrm>
              <a:off x="1030002" y="2640531"/>
              <a:ext cx="5626340" cy="2865721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l="-1624" t="-127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196" name="Google Shape;196;p10"/>
            <p:cNvSpPr txBox="1"/>
            <p:nvPr/>
          </p:nvSpPr>
          <p:spPr>
            <a:xfrm>
              <a:off x="6485106" y="2640531"/>
              <a:ext cx="6096000" cy="286572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l="-1499" t="-127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</p:grpSp>
      <p:sp>
        <p:nvSpPr>
          <p:cNvPr id="197" name="Google Shape;197;p10"/>
          <p:cNvSpPr txBox="1"/>
          <p:nvPr/>
        </p:nvSpPr>
        <p:spPr>
          <a:xfrm>
            <a:off x="2974369" y="5969486"/>
            <a:ext cx="6097712" cy="49686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2436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04" name="Google Shape;204;p11"/>
          <p:cNvSpPr txBox="1"/>
          <p:nvPr/>
        </p:nvSpPr>
        <p:spPr>
          <a:xfrm>
            <a:off x="729467" y="1138543"/>
            <a:ext cx="5732978" cy="478964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381" r="-2020" b="-1654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pic>
        <p:nvPicPr>
          <p:cNvPr id="205" name="Google Shape;205;p11"/>
          <p:cNvPicPr preferRelativeResize="0"/>
          <p:nvPr/>
        </p:nvPicPr>
        <p:blipFill rotWithShape="1">
          <a:blip r:embed="rId4">
            <a:alphaModFix/>
          </a:blip>
          <a:srcRect l="4912" t="4628" b="3112"/>
          <a:stretch/>
        </p:blipFill>
        <p:spPr>
          <a:xfrm>
            <a:off x="7662672" y="1883663"/>
            <a:ext cx="3371129" cy="329282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1"/>
          <p:cNvSpPr txBox="1"/>
          <p:nvPr/>
        </p:nvSpPr>
        <p:spPr>
          <a:xfrm>
            <a:off x="7488498" y="1049845"/>
            <a:ext cx="338036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70C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Symmetric mod 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🡪 mods 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8822933" y="5727307"/>
            <a:ext cx="1546260" cy="40011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16920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grpSp>
        <p:nvGrpSpPr>
          <p:cNvPr id="208" name="Google Shape;208;p11"/>
          <p:cNvGrpSpPr/>
          <p:nvPr/>
        </p:nvGrpSpPr>
        <p:grpSpPr>
          <a:xfrm>
            <a:off x="3816133" y="5176490"/>
            <a:ext cx="1546260" cy="1496196"/>
            <a:chOff x="3716677" y="4457596"/>
            <a:chExt cx="1546260" cy="1496196"/>
          </a:xfrm>
        </p:grpSpPr>
        <p:sp>
          <p:nvSpPr>
            <p:cNvPr id="209" name="Google Shape;209;p11"/>
            <p:cNvSpPr/>
            <p:nvPr/>
          </p:nvSpPr>
          <p:spPr>
            <a:xfrm>
              <a:off x="4263776" y="4457596"/>
              <a:ext cx="226031" cy="1096086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10" name="Google Shape;210;p11"/>
            <p:cNvSpPr txBox="1"/>
            <p:nvPr/>
          </p:nvSpPr>
          <p:spPr>
            <a:xfrm>
              <a:off x="3716677" y="5553682"/>
              <a:ext cx="1546260" cy="400110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</p:grpSp>
      <p:pic>
        <p:nvPicPr>
          <p:cNvPr id="211" name="Google Shape;211;p11"/>
          <p:cNvPicPr preferRelativeResize="0"/>
          <p:nvPr/>
        </p:nvPicPr>
        <p:blipFill rotWithShape="1">
          <a:blip r:embed="rId7">
            <a:alphaModFix/>
          </a:blip>
          <a:srcRect l="5059" t="3327" r="3938" b="1363"/>
          <a:stretch/>
        </p:blipFill>
        <p:spPr>
          <a:xfrm>
            <a:off x="7662673" y="1883663"/>
            <a:ext cx="3462010" cy="329282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2" name="Google Shape;212;p11"/>
          <p:cNvCxnSpPr/>
          <p:nvPr/>
        </p:nvCxnSpPr>
        <p:spPr>
          <a:xfrm rot="10800000">
            <a:off x="9493322" y="5060524"/>
            <a:ext cx="0" cy="516798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218" name="Google Shape;218;p12"/>
          <p:cNvSpPr txBox="1"/>
          <p:nvPr/>
        </p:nvSpPr>
        <p:spPr>
          <a:xfrm>
            <a:off x="1482831" y="844263"/>
            <a:ext cx="8277377" cy="219540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l="-1103" b="-5262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24" name="Google Shape;224;p13"/>
          <p:cNvSpPr txBox="1"/>
          <p:nvPr/>
        </p:nvSpPr>
        <p:spPr>
          <a:xfrm>
            <a:off x="3528939" y="528278"/>
            <a:ext cx="498606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Kyber-768 domain Parameters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13"/>
          <p:cNvSpPr txBox="1"/>
          <p:nvPr/>
        </p:nvSpPr>
        <p:spPr>
          <a:xfrm>
            <a:off x="1067318" y="996644"/>
            <a:ext cx="9876299" cy="5709255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 </a:t>
            </a:r>
            <a:endParaRPr/>
          </a:p>
        </p:txBody>
      </p:sp>
      <p:sp>
        <p:nvSpPr>
          <p:cNvPr id="226" name="Google Shape;226;p13"/>
          <p:cNvSpPr/>
          <p:nvPr/>
        </p:nvSpPr>
        <p:spPr>
          <a:xfrm>
            <a:off x="776377" y="1285759"/>
            <a:ext cx="9402793" cy="17209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7" name="Google Shape;227;p13"/>
          <p:cNvSpPr/>
          <p:nvPr/>
        </p:nvSpPr>
        <p:spPr>
          <a:xfrm>
            <a:off x="776376" y="3161489"/>
            <a:ext cx="9402793" cy="1099226"/>
          </a:xfrm>
          <a:prstGeom prst="rect">
            <a:avLst/>
          </a:prstGeom>
          <a:noFill/>
          <a:ln w="38100" cap="flat" cmpd="sng">
            <a:solidFill>
              <a:srgbClr val="92D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Times New Roman"/>
              <a:buNone/>
            </a:pPr>
            <a:r>
              <a:rPr lang="en-US" sz="3200"/>
              <a:t>KYBER-PKE</a:t>
            </a:r>
            <a:endParaRPr sz="3200"/>
          </a:p>
        </p:txBody>
      </p:sp>
      <p:sp>
        <p:nvSpPr>
          <p:cNvPr id="233" name="Google Shape;233;p14"/>
          <p:cNvSpPr txBox="1">
            <a:spLocks noGrp="1"/>
          </p:cNvSpPr>
          <p:nvPr>
            <p:ph type="body" idx="1"/>
          </p:nvPr>
        </p:nvSpPr>
        <p:spPr>
          <a:xfrm>
            <a:off x="6538717" y="1622711"/>
            <a:ext cx="5367130" cy="385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Base on Learning with errors problem</a:t>
            </a:r>
            <a:endParaRPr/>
          </a:p>
          <a:p>
            <a:pPr marL="228600" lvl="0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Public key encryption</a:t>
            </a:r>
            <a:endParaRPr/>
          </a:p>
          <a:p>
            <a:pPr marL="228600" lvl="0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Security level :  “</a:t>
            </a:r>
            <a:r>
              <a:rPr lang="en-US" sz="2000">
                <a:highlight>
                  <a:srgbClr val="FFFF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secure against chosen plain text attack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” 🡪 lower than Kyber-KEM</a:t>
            </a:r>
            <a:endParaRPr/>
          </a:p>
        </p:txBody>
      </p:sp>
      <p:sp>
        <p:nvSpPr>
          <p:cNvPr id="234" name="Google Shape;234;p14"/>
          <p:cNvSpPr txBox="1">
            <a:spLocks noGrp="1"/>
          </p:cNvSpPr>
          <p:nvPr>
            <p:ph type="body" idx="2"/>
          </p:nvPr>
        </p:nvSpPr>
        <p:spPr>
          <a:xfrm>
            <a:off x="984940" y="5962192"/>
            <a:ext cx="4597254" cy="438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000" u="sng"/>
              <a:t>Hash function:</a:t>
            </a:r>
            <a:r>
              <a:rPr lang="en-US" sz="1800"/>
              <a:t> generate A : SHAKE 128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 sz="1800"/>
          </a:p>
        </p:txBody>
      </p:sp>
      <p:sp>
        <p:nvSpPr>
          <p:cNvPr id="235" name="Google Shape;235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236" name="Google Shape;236;p14"/>
          <p:cNvSpPr txBox="1"/>
          <p:nvPr/>
        </p:nvSpPr>
        <p:spPr>
          <a:xfrm>
            <a:off x="1095537" y="3847171"/>
            <a:ext cx="4486657" cy="190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generation</a:t>
            </a:r>
            <a:endParaRPr/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Encryption</a:t>
            </a:r>
            <a:endParaRPr/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Decryption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243" name="Google Shape;243;p15"/>
          <p:cNvSpPr/>
          <p:nvPr/>
        </p:nvSpPr>
        <p:spPr>
          <a:xfrm rot="-4097790" flipH="1">
            <a:off x="6294530" y="2195917"/>
            <a:ext cx="176133" cy="209812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1" name="Google Shape;251;p15"/>
          <p:cNvSpPr/>
          <p:nvPr/>
        </p:nvSpPr>
        <p:spPr>
          <a:xfrm>
            <a:off x="7495098" y="338604"/>
            <a:ext cx="4573077" cy="789479"/>
          </a:xfrm>
          <a:prstGeom prst="ellipse">
            <a:avLst/>
          </a:prstGeom>
          <a:noFill/>
          <a:ln w="127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4" name="Google Shape;254;p15"/>
          <p:cNvSpPr/>
          <p:nvPr/>
        </p:nvSpPr>
        <p:spPr>
          <a:xfrm rot="-5400000" flipH="1">
            <a:off x="6248104" y="444811"/>
            <a:ext cx="185345" cy="2308644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62" name="Google Shape;262;p15"/>
          <p:cNvGrpSpPr/>
          <p:nvPr/>
        </p:nvGrpSpPr>
        <p:grpSpPr>
          <a:xfrm>
            <a:off x="7563172" y="334732"/>
            <a:ext cx="4391171" cy="2849159"/>
            <a:chOff x="7563172" y="334732"/>
            <a:chExt cx="4391171" cy="2849159"/>
          </a:xfrm>
        </p:grpSpPr>
        <p:sp>
          <p:nvSpPr>
            <p:cNvPr id="263" name="Google Shape;263;p15"/>
            <p:cNvSpPr txBox="1"/>
            <p:nvPr/>
          </p:nvSpPr>
          <p:spPr>
            <a:xfrm>
              <a:off x="7626708" y="623353"/>
              <a:ext cx="4243577" cy="711413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264" name="Google Shape;264;p15"/>
            <p:cNvSpPr txBox="1"/>
            <p:nvPr/>
          </p:nvSpPr>
          <p:spPr>
            <a:xfrm>
              <a:off x="7753228" y="1723437"/>
              <a:ext cx="3814624" cy="114993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9389657" y="1189249"/>
              <a:ext cx="354468" cy="531134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 w="12700" cap="flat" cmpd="sng">
              <a:solidFill>
                <a:srgbClr val="67440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66" name="Google Shape;266;p15"/>
            <p:cNvSpPr txBox="1"/>
            <p:nvPr/>
          </p:nvSpPr>
          <p:spPr>
            <a:xfrm>
              <a:off x="9947266" y="1237379"/>
              <a:ext cx="1495028" cy="400110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l="-4489" t="-16665" r="-2040" b="-1817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267" name="Google Shape;267;p15"/>
            <p:cNvSpPr/>
            <p:nvPr/>
          </p:nvSpPr>
          <p:spPr>
            <a:xfrm>
              <a:off x="7563172" y="540841"/>
              <a:ext cx="4217858" cy="2643050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68" name="Google Shape;268;p15"/>
            <p:cNvSpPr/>
            <p:nvPr/>
          </p:nvSpPr>
          <p:spPr>
            <a:xfrm>
              <a:off x="11535243" y="334732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269" name="Google Shape;269;p15"/>
          <p:cNvGrpSpPr/>
          <p:nvPr/>
        </p:nvGrpSpPr>
        <p:grpSpPr>
          <a:xfrm>
            <a:off x="7582943" y="3269839"/>
            <a:ext cx="4381060" cy="2584456"/>
            <a:chOff x="7582943" y="3269839"/>
            <a:chExt cx="4381060" cy="2584456"/>
          </a:xfrm>
        </p:grpSpPr>
        <p:sp>
          <p:nvSpPr>
            <p:cNvPr id="270" name="Google Shape;270;p15"/>
            <p:cNvSpPr txBox="1"/>
            <p:nvPr/>
          </p:nvSpPr>
          <p:spPr>
            <a:xfrm>
              <a:off x="7676058" y="3676246"/>
              <a:ext cx="4018154" cy="2073260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l="-1516" r="-2427" b="-2646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271" name="Google Shape;271;p15"/>
            <p:cNvSpPr/>
            <p:nvPr/>
          </p:nvSpPr>
          <p:spPr>
            <a:xfrm>
              <a:off x="7582943" y="3450229"/>
              <a:ext cx="4217858" cy="2404066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72" name="Google Shape;272;p15"/>
            <p:cNvSpPr/>
            <p:nvPr/>
          </p:nvSpPr>
          <p:spPr>
            <a:xfrm>
              <a:off x="11544903" y="3269839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pic>
        <p:nvPicPr>
          <p:cNvPr id="242" name="Google Shape;242;p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718" y="768622"/>
            <a:ext cx="5880879" cy="3296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4" name="Google Shape;244;p15"/>
          <p:cNvGrpSpPr/>
          <p:nvPr/>
        </p:nvGrpSpPr>
        <p:grpSpPr>
          <a:xfrm>
            <a:off x="1316277" y="4738442"/>
            <a:ext cx="6157647" cy="1694544"/>
            <a:chOff x="507959" y="4971891"/>
            <a:chExt cx="6377270" cy="1421721"/>
          </a:xfrm>
        </p:grpSpPr>
        <p:grpSp>
          <p:nvGrpSpPr>
            <p:cNvPr id="245" name="Google Shape;245;p15"/>
            <p:cNvGrpSpPr/>
            <p:nvPr/>
          </p:nvGrpSpPr>
          <p:grpSpPr>
            <a:xfrm>
              <a:off x="507959" y="4971891"/>
              <a:ext cx="6377270" cy="1421721"/>
              <a:chOff x="507959" y="4971891"/>
              <a:chExt cx="6377270" cy="1421721"/>
            </a:xfrm>
          </p:grpSpPr>
          <p:sp>
            <p:nvSpPr>
              <p:cNvPr id="246" name="Google Shape;246;p15"/>
              <p:cNvSpPr txBox="1"/>
              <p:nvPr/>
            </p:nvSpPr>
            <p:spPr>
              <a:xfrm>
                <a:off x="507959" y="4971891"/>
                <a:ext cx="6036456" cy="880868"/>
              </a:xfrm>
              <a:prstGeom prst="rect">
                <a:avLst/>
              </a:prstGeom>
              <a:blipFill rotWithShape="1">
                <a:blip r:embed="rId8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sp>
            <p:nvSpPr>
              <p:cNvPr id="247" name="Google Shape;247;p15"/>
              <p:cNvSpPr txBox="1"/>
              <p:nvPr/>
            </p:nvSpPr>
            <p:spPr>
              <a:xfrm>
                <a:off x="2149043" y="6083743"/>
                <a:ext cx="4736186" cy="3098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r>
                  <a:rPr lang="en-US" sz="1800" dirty="0">
                    <a:solidFill>
                      <a:srgbClr val="FF0000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     A                      s                 e</a:t>
                </a:r>
                <a:endParaRPr sz="1800" dirty="0">
                  <a:solidFill>
                    <a:srgbClr val="FF0000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  <p:cxnSp>
          <p:nvCxnSpPr>
            <p:cNvPr id="248" name="Google Shape;248;p15"/>
            <p:cNvCxnSpPr/>
            <p:nvPr/>
          </p:nvCxnSpPr>
          <p:spPr>
            <a:xfrm rot="10800000">
              <a:off x="2581873" y="5883663"/>
              <a:ext cx="0" cy="189197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249" name="Google Shape;249;p15"/>
            <p:cNvCxnSpPr/>
            <p:nvPr/>
          </p:nvCxnSpPr>
          <p:spPr>
            <a:xfrm rot="10800000">
              <a:off x="4033096" y="5871129"/>
              <a:ext cx="0" cy="189197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250" name="Google Shape;250;p15"/>
            <p:cNvCxnSpPr/>
            <p:nvPr/>
          </p:nvCxnSpPr>
          <p:spPr>
            <a:xfrm rot="10800000">
              <a:off x="5036745" y="5859350"/>
              <a:ext cx="0" cy="189197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</p:grpSp>
      <p:sp>
        <p:nvSpPr>
          <p:cNvPr id="252" name="Google Shape;252;p15"/>
          <p:cNvSpPr/>
          <p:nvPr/>
        </p:nvSpPr>
        <p:spPr>
          <a:xfrm>
            <a:off x="1306497" y="4492404"/>
            <a:ext cx="6009702" cy="1601882"/>
          </a:xfrm>
          <a:prstGeom prst="ellipse">
            <a:avLst/>
          </a:prstGeom>
          <a:noFill/>
          <a:ln w="127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3" name="Google Shape;253;p15"/>
          <p:cNvSpPr/>
          <p:nvPr/>
        </p:nvSpPr>
        <p:spPr>
          <a:xfrm rot="10800000" flipH="1">
            <a:off x="680454" y="3180186"/>
            <a:ext cx="330285" cy="211315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55" name="Google Shape;255;p15"/>
          <p:cNvGrpSpPr/>
          <p:nvPr/>
        </p:nvGrpSpPr>
        <p:grpSpPr>
          <a:xfrm>
            <a:off x="1316277" y="4798159"/>
            <a:ext cx="6641118" cy="1605820"/>
            <a:chOff x="3694238" y="2843840"/>
            <a:chExt cx="6641118" cy="1605820"/>
          </a:xfrm>
        </p:grpSpPr>
        <p:grpSp>
          <p:nvGrpSpPr>
            <p:cNvPr id="256" name="Google Shape;256;p15"/>
            <p:cNvGrpSpPr/>
            <p:nvPr/>
          </p:nvGrpSpPr>
          <p:grpSpPr>
            <a:xfrm>
              <a:off x="3694238" y="2843840"/>
              <a:ext cx="6641118" cy="1605820"/>
              <a:chOff x="7469175" y="4856064"/>
              <a:chExt cx="6036456" cy="1347283"/>
            </a:xfrm>
          </p:grpSpPr>
          <p:sp>
            <p:nvSpPr>
              <p:cNvPr id="257" name="Google Shape;257;p15"/>
              <p:cNvSpPr txBox="1"/>
              <p:nvPr/>
            </p:nvSpPr>
            <p:spPr>
              <a:xfrm>
                <a:off x="7469175" y="4856064"/>
                <a:ext cx="6036456" cy="876081"/>
              </a:xfrm>
              <a:prstGeom prst="rect">
                <a:avLst/>
              </a:prstGeom>
              <a:blipFill rotWithShape="1">
                <a:blip r:embed="rId9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sp>
            <p:nvSpPr>
              <p:cNvPr id="258" name="Google Shape;258;p15"/>
              <p:cNvSpPr txBox="1"/>
              <p:nvPr/>
            </p:nvSpPr>
            <p:spPr>
              <a:xfrm>
                <a:off x="8856989" y="5893512"/>
                <a:ext cx="3217570" cy="3098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r>
                  <a:rPr lang="en-US" sz="1800" dirty="0">
                    <a:solidFill>
                      <a:srgbClr val="FF0000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t                As                e                   </a:t>
                </a:r>
                <a:endParaRPr lang="en-US" sz="1800" dirty="0">
                  <a:solidFill>
                    <a:srgbClr val="FF000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  <p:cxnSp>
            <p:nvCxnSpPr>
              <p:cNvPr id="259" name="Google Shape;259;p15"/>
              <p:cNvCxnSpPr/>
              <p:nvPr/>
            </p:nvCxnSpPr>
            <p:spPr>
              <a:xfrm rot="10800000">
                <a:off x="8959160" y="5712626"/>
                <a:ext cx="0" cy="18919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60" name="Google Shape;260;p15"/>
              <p:cNvCxnSpPr/>
              <p:nvPr/>
            </p:nvCxnSpPr>
            <p:spPr>
              <a:xfrm rot="10800000">
                <a:off x="9941249" y="5726476"/>
                <a:ext cx="0" cy="18919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cxnSp>
          <p:nvCxnSpPr>
            <p:cNvPr id="261" name="Google Shape;261;p15"/>
            <p:cNvCxnSpPr/>
            <p:nvPr/>
          </p:nvCxnSpPr>
          <p:spPr>
            <a:xfrm rot="10800000">
              <a:off x="7568100" y="3788846"/>
              <a:ext cx="0" cy="225503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</p:grpSp>
      <p:grpSp>
        <p:nvGrpSpPr>
          <p:cNvPr id="273" name="Google Shape;273;p15"/>
          <p:cNvGrpSpPr/>
          <p:nvPr/>
        </p:nvGrpSpPr>
        <p:grpSpPr>
          <a:xfrm>
            <a:off x="1087094" y="4225778"/>
            <a:ext cx="6465439" cy="2227759"/>
            <a:chOff x="1087094" y="4225778"/>
            <a:chExt cx="6465439" cy="2227759"/>
          </a:xfrm>
        </p:grpSpPr>
        <p:sp>
          <p:nvSpPr>
            <p:cNvPr id="274" name="Google Shape;274;p15"/>
            <p:cNvSpPr/>
            <p:nvPr/>
          </p:nvSpPr>
          <p:spPr>
            <a:xfrm>
              <a:off x="1087094" y="4443386"/>
              <a:ext cx="6266373" cy="2010151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275" name="Google Shape;275;p15"/>
            <p:cNvSpPr/>
            <p:nvPr/>
          </p:nvSpPr>
          <p:spPr>
            <a:xfrm>
              <a:off x="7133433" y="4225778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3</a:t>
              </a:r>
              <a:endParaRPr sz="18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sp>
        <p:nvSpPr>
          <p:cNvPr id="276" name="Google Shape;276;p15"/>
          <p:cNvSpPr/>
          <p:nvPr/>
        </p:nvSpPr>
        <p:spPr>
          <a:xfrm>
            <a:off x="7626708" y="4065009"/>
            <a:ext cx="376568" cy="379744"/>
          </a:xfrm>
          <a:prstGeom prst="ellipse">
            <a:avLst/>
          </a:prstGeom>
          <a:noFill/>
          <a:ln w="127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6"/>
          <p:cNvSpPr>
            <a:spLocks noGrp="1"/>
          </p:cNvSpPr>
          <p:nvPr>
            <p:ph type="sldNum" idx="12"/>
          </p:nvPr>
        </p:nvSpPr>
        <p:spPr>
          <a:xfrm>
            <a:off x="11243737" y="6219362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grpSp>
        <p:nvGrpSpPr>
          <p:cNvPr id="283" name="Google Shape;283;p16"/>
          <p:cNvGrpSpPr/>
          <p:nvPr/>
        </p:nvGrpSpPr>
        <p:grpSpPr>
          <a:xfrm>
            <a:off x="301717" y="4895403"/>
            <a:ext cx="12145410" cy="1675247"/>
            <a:chOff x="201107" y="4801830"/>
            <a:chExt cx="12145410" cy="1675247"/>
          </a:xfrm>
        </p:grpSpPr>
        <p:grpSp>
          <p:nvGrpSpPr>
            <p:cNvPr id="284" name="Google Shape;284;p16"/>
            <p:cNvGrpSpPr/>
            <p:nvPr/>
          </p:nvGrpSpPr>
          <p:grpSpPr>
            <a:xfrm>
              <a:off x="5862001" y="4818456"/>
              <a:ext cx="6484516" cy="1658621"/>
              <a:chOff x="5229413" y="4732654"/>
              <a:chExt cx="6484516" cy="1658621"/>
            </a:xfrm>
          </p:grpSpPr>
          <p:sp>
            <p:nvSpPr>
              <p:cNvPr id="285" name="Google Shape;285;p16"/>
              <p:cNvSpPr txBox="1"/>
              <p:nvPr/>
            </p:nvSpPr>
            <p:spPr>
              <a:xfrm>
                <a:off x="5229413" y="4732654"/>
                <a:ext cx="6484516" cy="1010213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sp>
            <p:nvSpPr>
              <p:cNvPr id="286" name="Google Shape;286;p16"/>
              <p:cNvSpPr txBox="1"/>
              <p:nvPr/>
            </p:nvSpPr>
            <p:spPr>
              <a:xfrm>
                <a:off x="8086951" y="6021943"/>
                <a:ext cx="3302940" cy="369332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stretch>
                  <a:fillRect t="-16390" b="-16390"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cxnSp>
            <p:nvCxnSpPr>
              <p:cNvPr id="287" name="Google Shape;287;p16"/>
              <p:cNvCxnSpPr/>
              <p:nvPr/>
            </p:nvCxnSpPr>
            <p:spPr>
              <a:xfrm rot="10800000">
                <a:off x="8808878" y="5698343"/>
                <a:ext cx="0" cy="22550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88" name="Google Shape;288;p16"/>
              <p:cNvCxnSpPr/>
              <p:nvPr/>
            </p:nvCxnSpPr>
            <p:spPr>
              <a:xfrm rot="10800000">
                <a:off x="10206223" y="5733230"/>
                <a:ext cx="0" cy="22550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89" name="Google Shape;289;p16"/>
              <p:cNvCxnSpPr/>
              <p:nvPr/>
            </p:nvCxnSpPr>
            <p:spPr>
              <a:xfrm rot="10800000">
                <a:off x="11124682" y="5675161"/>
                <a:ext cx="0" cy="22550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grpSp>
          <p:nvGrpSpPr>
            <p:cNvPr id="290" name="Google Shape;290;p16"/>
            <p:cNvGrpSpPr/>
            <p:nvPr/>
          </p:nvGrpSpPr>
          <p:grpSpPr>
            <a:xfrm>
              <a:off x="201107" y="4801830"/>
              <a:ext cx="5962649" cy="1596107"/>
              <a:chOff x="133351" y="4672522"/>
              <a:chExt cx="5962649" cy="1596107"/>
            </a:xfrm>
          </p:grpSpPr>
          <p:sp>
            <p:nvSpPr>
              <p:cNvPr id="291" name="Google Shape;291;p16"/>
              <p:cNvSpPr txBox="1"/>
              <p:nvPr/>
            </p:nvSpPr>
            <p:spPr>
              <a:xfrm>
                <a:off x="133351" y="4672522"/>
                <a:ext cx="5962649" cy="1010213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sp>
            <p:nvSpPr>
              <p:cNvPr id="292" name="Google Shape;292;p16"/>
              <p:cNvSpPr txBox="1"/>
              <p:nvPr/>
            </p:nvSpPr>
            <p:spPr>
              <a:xfrm>
                <a:off x="2011897" y="5899297"/>
                <a:ext cx="3522128" cy="369332"/>
              </a:xfrm>
              <a:prstGeom prst="rect">
                <a:avLst/>
              </a:prstGeom>
              <a:blipFill rotWithShape="1">
                <a:blip r:embed="rId6">
                  <a:alphaModFix/>
                </a:blip>
                <a:stretch>
                  <a:fillRect t="-16390" b="-16390"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cxnSp>
            <p:nvCxnSpPr>
              <p:cNvPr id="293" name="Google Shape;293;p16"/>
              <p:cNvCxnSpPr/>
              <p:nvPr/>
            </p:nvCxnSpPr>
            <p:spPr>
              <a:xfrm rot="10800000">
                <a:off x="2793016" y="5631656"/>
                <a:ext cx="0" cy="22550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94" name="Google Shape;294;p16"/>
              <p:cNvCxnSpPr/>
              <p:nvPr/>
            </p:nvCxnSpPr>
            <p:spPr>
              <a:xfrm rot="10800000">
                <a:off x="4212241" y="5682735"/>
                <a:ext cx="0" cy="22550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  <p:cxnSp>
            <p:nvCxnSpPr>
              <p:cNvPr id="295" name="Google Shape;295;p16"/>
              <p:cNvCxnSpPr/>
              <p:nvPr/>
            </p:nvCxnSpPr>
            <p:spPr>
              <a:xfrm rot="10800000">
                <a:off x="5164741" y="5682735"/>
                <a:ext cx="0" cy="22550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</p:grpSp>
      <p:pic>
        <p:nvPicPr>
          <p:cNvPr id="296" name="Google Shape;296;p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2503" y="325352"/>
            <a:ext cx="5676539" cy="4012726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16"/>
          <p:cNvSpPr/>
          <p:nvPr/>
        </p:nvSpPr>
        <p:spPr>
          <a:xfrm>
            <a:off x="6513400" y="5215789"/>
            <a:ext cx="380469" cy="416287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98" name="Google Shape;298;p16"/>
          <p:cNvGrpSpPr/>
          <p:nvPr/>
        </p:nvGrpSpPr>
        <p:grpSpPr>
          <a:xfrm>
            <a:off x="1215712" y="4879630"/>
            <a:ext cx="11782204" cy="1010213"/>
            <a:chOff x="1536588" y="4814043"/>
            <a:chExt cx="11782204" cy="1010213"/>
          </a:xfrm>
        </p:grpSpPr>
        <p:sp>
          <p:nvSpPr>
            <p:cNvPr id="299" name="Google Shape;299;p16"/>
            <p:cNvSpPr txBox="1"/>
            <p:nvPr/>
          </p:nvSpPr>
          <p:spPr>
            <a:xfrm>
              <a:off x="1536588" y="4814043"/>
              <a:ext cx="4206045" cy="1010213"/>
            </a:xfrm>
            <a:prstGeom prst="rect">
              <a:avLst/>
            </a:pr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300" name="Google Shape;300;p16"/>
            <p:cNvSpPr txBox="1"/>
            <p:nvPr/>
          </p:nvSpPr>
          <p:spPr>
            <a:xfrm>
              <a:off x="6834276" y="5150202"/>
              <a:ext cx="6484516" cy="399661"/>
            </a:xfrm>
            <a:prstGeom prst="rect">
              <a:avLst/>
            </a:prstGeom>
            <a:blipFill rotWithShape="1">
              <a:blip r:embed="rId9">
                <a:alphaModFix/>
              </a:blip>
              <a:stretch>
                <a:fillRect b="-7690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</p:grpSp>
      <p:sp>
        <p:nvSpPr>
          <p:cNvPr id="301" name="Google Shape;301;p16"/>
          <p:cNvSpPr/>
          <p:nvPr/>
        </p:nvSpPr>
        <p:spPr>
          <a:xfrm>
            <a:off x="1212499" y="5231621"/>
            <a:ext cx="365760" cy="36576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302" name="Google Shape;302;p16"/>
          <p:cNvGrpSpPr/>
          <p:nvPr/>
        </p:nvGrpSpPr>
        <p:grpSpPr>
          <a:xfrm>
            <a:off x="6780996" y="63453"/>
            <a:ext cx="4946566" cy="2690932"/>
            <a:chOff x="6780996" y="63453"/>
            <a:chExt cx="4946566" cy="2690932"/>
          </a:xfrm>
        </p:grpSpPr>
        <p:sp>
          <p:nvSpPr>
            <p:cNvPr id="303" name="Google Shape;303;p16"/>
            <p:cNvSpPr txBox="1"/>
            <p:nvPr/>
          </p:nvSpPr>
          <p:spPr>
            <a:xfrm>
              <a:off x="7106814" y="328016"/>
              <a:ext cx="4136923" cy="403637"/>
            </a:xfrm>
            <a:prstGeom prst="rect">
              <a:avLst/>
            </a:prstGeom>
            <a:blipFill rotWithShape="1">
              <a:blip r:embed="rId10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grpSp>
          <p:nvGrpSpPr>
            <p:cNvPr id="304" name="Google Shape;304;p16"/>
            <p:cNvGrpSpPr/>
            <p:nvPr/>
          </p:nvGrpSpPr>
          <p:grpSpPr>
            <a:xfrm>
              <a:off x="6780996" y="63453"/>
              <a:ext cx="4946566" cy="2690932"/>
              <a:chOff x="6780996" y="63453"/>
              <a:chExt cx="4946566" cy="2690932"/>
            </a:xfrm>
          </p:grpSpPr>
          <p:grpSp>
            <p:nvGrpSpPr>
              <p:cNvPr id="305" name="Google Shape;305;p16"/>
              <p:cNvGrpSpPr/>
              <p:nvPr/>
            </p:nvGrpSpPr>
            <p:grpSpPr>
              <a:xfrm>
                <a:off x="6780996" y="272879"/>
                <a:ext cx="4828501" cy="2481506"/>
                <a:chOff x="6776163" y="59613"/>
                <a:chExt cx="4828501" cy="2481506"/>
              </a:xfrm>
            </p:grpSpPr>
            <p:sp>
              <p:nvSpPr>
                <p:cNvPr id="306" name="Google Shape;306;p16"/>
                <p:cNvSpPr txBox="1"/>
                <p:nvPr/>
              </p:nvSpPr>
              <p:spPr>
                <a:xfrm>
                  <a:off x="7127914" y="457834"/>
                  <a:ext cx="4476750" cy="2039084"/>
                </a:xfrm>
                <a:prstGeom prst="rect">
                  <a:avLst/>
                </a:prstGeom>
                <a:blipFill rotWithShape="1">
                  <a:blip r:embed="rId11">
                    <a:alphaModFix/>
                  </a:blip>
                  <a:stretch>
                    <a:fillRect l="-1361" b="-4476"/>
                  </a:stretch>
                </a:blip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1800">
                      <a:latin typeface="Arial"/>
                      <a:ea typeface="Arial"/>
                      <a:cs typeface="Arial"/>
                      <a:sym typeface="Arial"/>
                    </a:rPr>
                    <a:t> </a:t>
                  </a:r>
                  <a:endParaRPr/>
                </a:p>
              </p:txBody>
            </p:sp>
            <p:sp>
              <p:nvSpPr>
                <p:cNvPr id="307" name="Google Shape;307;p16"/>
                <p:cNvSpPr/>
                <p:nvPr/>
              </p:nvSpPr>
              <p:spPr>
                <a:xfrm>
                  <a:off x="6776163" y="59613"/>
                  <a:ext cx="4802568" cy="2481506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92D05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l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endParaRPr>
                </a:p>
              </p:txBody>
            </p:sp>
          </p:grpSp>
          <p:sp>
            <p:nvSpPr>
              <p:cNvPr id="308" name="Google Shape;308;p16"/>
              <p:cNvSpPr/>
              <p:nvPr/>
            </p:nvSpPr>
            <p:spPr>
              <a:xfrm>
                <a:off x="11308462" y="63453"/>
                <a:ext cx="419100" cy="433890"/>
              </a:xfrm>
              <a:prstGeom prst="ellipse">
                <a:avLst/>
              </a:prstGeom>
              <a:solidFill>
                <a:schemeClr val="accent2"/>
              </a:solidFill>
              <a:ln w="12700" cap="flat" cmpd="sng">
                <a:solidFill>
                  <a:srgbClr val="41494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l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1</a:t>
                </a: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grpSp>
        <p:nvGrpSpPr>
          <p:cNvPr id="309" name="Google Shape;309;p16"/>
          <p:cNvGrpSpPr/>
          <p:nvPr/>
        </p:nvGrpSpPr>
        <p:grpSpPr>
          <a:xfrm>
            <a:off x="6780996" y="2808281"/>
            <a:ext cx="4976274" cy="1628071"/>
            <a:chOff x="6780996" y="2808281"/>
            <a:chExt cx="4976274" cy="1628071"/>
          </a:xfrm>
        </p:grpSpPr>
        <p:sp>
          <p:nvSpPr>
            <p:cNvPr id="310" name="Google Shape;310;p16"/>
            <p:cNvSpPr txBox="1"/>
            <p:nvPr/>
          </p:nvSpPr>
          <p:spPr>
            <a:xfrm>
              <a:off x="7106814" y="2984464"/>
              <a:ext cx="4018154" cy="1443665"/>
            </a:xfrm>
            <a:prstGeom prst="rect">
              <a:avLst/>
            </a:prstGeom>
            <a:blipFill rotWithShape="1">
              <a:blip r:embed="rId12">
                <a:alphaModFix/>
              </a:blip>
              <a:stretch>
                <a:fillRect b="-5083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grpSp>
          <p:nvGrpSpPr>
            <p:cNvPr id="311" name="Google Shape;311;p16"/>
            <p:cNvGrpSpPr/>
            <p:nvPr/>
          </p:nvGrpSpPr>
          <p:grpSpPr>
            <a:xfrm>
              <a:off x="6780996" y="2808281"/>
              <a:ext cx="4976274" cy="1628071"/>
              <a:chOff x="6780996" y="2808281"/>
              <a:chExt cx="4976274" cy="1628071"/>
            </a:xfrm>
          </p:grpSpPr>
          <p:sp>
            <p:nvSpPr>
              <p:cNvPr id="312" name="Google Shape;312;p16"/>
              <p:cNvSpPr/>
              <p:nvPr/>
            </p:nvSpPr>
            <p:spPr>
              <a:xfrm>
                <a:off x="6780996" y="2831251"/>
                <a:ext cx="4802568" cy="1605101"/>
              </a:xfrm>
              <a:prstGeom prst="rect">
                <a:avLst/>
              </a:prstGeom>
              <a:noFill/>
              <a:ln w="19050" cap="flat" cmpd="sng">
                <a:solidFill>
                  <a:srgbClr val="92D05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313" name="Google Shape;313;p16"/>
              <p:cNvSpPr/>
              <p:nvPr/>
            </p:nvSpPr>
            <p:spPr>
              <a:xfrm>
                <a:off x="11338170" y="2808281"/>
                <a:ext cx="419100" cy="433890"/>
              </a:xfrm>
              <a:prstGeom prst="ellipse">
                <a:avLst/>
              </a:prstGeom>
              <a:solidFill>
                <a:schemeClr val="accent2"/>
              </a:solidFill>
              <a:ln w="12700" cap="flat" cmpd="sng">
                <a:solidFill>
                  <a:srgbClr val="41494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l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2</a:t>
                </a: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grpSp>
        <p:nvGrpSpPr>
          <p:cNvPr id="314" name="Google Shape;314;p16"/>
          <p:cNvGrpSpPr/>
          <p:nvPr/>
        </p:nvGrpSpPr>
        <p:grpSpPr>
          <a:xfrm>
            <a:off x="169521" y="4436352"/>
            <a:ext cx="12022479" cy="2040725"/>
            <a:chOff x="169521" y="4284605"/>
            <a:chExt cx="12032003" cy="2194562"/>
          </a:xfrm>
        </p:grpSpPr>
        <p:sp>
          <p:nvSpPr>
            <p:cNvPr id="315" name="Google Shape;315;p16"/>
            <p:cNvSpPr/>
            <p:nvPr/>
          </p:nvSpPr>
          <p:spPr>
            <a:xfrm>
              <a:off x="169521" y="4469016"/>
              <a:ext cx="11874775" cy="2010151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316" name="Google Shape;316;p16"/>
            <p:cNvSpPr/>
            <p:nvPr/>
          </p:nvSpPr>
          <p:spPr>
            <a:xfrm>
              <a:off x="11782424" y="4284605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3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sp>
        <p:nvSpPr>
          <p:cNvPr id="317" name="Google Shape;317;p16"/>
          <p:cNvSpPr/>
          <p:nvPr/>
        </p:nvSpPr>
        <p:spPr>
          <a:xfrm>
            <a:off x="4805679" y="1483360"/>
            <a:ext cx="2183070" cy="2336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6"/>
          <p:cNvSpPr/>
          <p:nvPr/>
        </p:nvSpPr>
        <p:spPr>
          <a:xfrm rot="2529099">
            <a:off x="5720452" y="2706553"/>
            <a:ext cx="1487225" cy="19527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6"/>
          <p:cNvSpPr/>
          <p:nvPr/>
        </p:nvSpPr>
        <p:spPr>
          <a:xfrm rot="5400000">
            <a:off x="4278342" y="3741053"/>
            <a:ext cx="1973270" cy="22427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6"/>
          <p:cNvSpPr txBox="1"/>
          <p:nvPr/>
        </p:nvSpPr>
        <p:spPr>
          <a:xfrm>
            <a:off x="2961382" y="3904727"/>
            <a:ext cx="258588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Ciphertext: send to Alice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26" name="Google Shape;326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08511" y="487580"/>
            <a:ext cx="3799435" cy="33534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7" name="Google Shape;327;p17"/>
          <p:cNvGrpSpPr/>
          <p:nvPr/>
        </p:nvGrpSpPr>
        <p:grpSpPr>
          <a:xfrm>
            <a:off x="5468719" y="894522"/>
            <a:ext cx="4192116" cy="1580321"/>
            <a:chOff x="5468719" y="894522"/>
            <a:chExt cx="4192116" cy="1580321"/>
          </a:xfrm>
        </p:grpSpPr>
        <p:sp>
          <p:nvSpPr>
            <p:cNvPr id="328" name="Google Shape;328;p17"/>
            <p:cNvSpPr txBox="1"/>
            <p:nvPr/>
          </p:nvSpPr>
          <p:spPr>
            <a:xfrm>
              <a:off x="5800724" y="1028700"/>
              <a:ext cx="3314701" cy="131613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329" name="Google Shape;329;p17"/>
            <p:cNvSpPr/>
            <p:nvPr/>
          </p:nvSpPr>
          <p:spPr>
            <a:xfrm>
              <a:off x="5468719" y="894522"/>
              <a:ext cx="4192116" cy="1580321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330" name="Google Shape;330;p17"/>
          <p:cNvGrpSpPr/>
          <p:nvPr/>
        </p:nvGrpSpPr>
        <p:grpSpPr>
          <a:xfrm>
            <a:off x="522507" y="3081198"/>
            <a:ext cx="11146986" cy="3319602"/>
            <a:chOff x="522507" y="3081198"/>
            <a:chExt cx="11146986" cy="3319602"/>
          </a:xfrm>
        </p:grpSpPr>
        <p:grpSp>
          <p:nvGrpSpPr>
            <p:cNvPr id="331" name="Google Shape;331;p17"/>
            <p:cNvGrpSpPr/>
            <p:nvPr/>
          </p:nvGrpSpPr>
          <p:grpSpPr>
            <a:xfrm>
              <a:off x="522507" y="4046220"/>
              <a:ext cx="3903580" cy="2354580"/>
              <a:chOff x="522507" y="4046220"/>
              <a:chExt cx="3903580" cy="2354580"/>
            </a:xfrm>
          </p:grpSpPr>
          <p:pic>
            <p:nvPicPr>
              <p:cNvPr id="332" name="Google Shape;332;p17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1919122" y="4046220"/>
                <a:ext cx="2506965" cy="23545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3" name="Google Shape;333;p17"/>
              <p:cNvSpPr txBox="1"/>
              <p:nvPr/>
            </p:nvSpPr>
            <p:spPr>
              <a:xfrm>
                <a:off x="522507" y="5020032"/>
                <a:ext cx="114436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Rounding</a:t>
                </a:r>
                <a:endParaRPr sz="180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  <p:grpSp>
          <p:nvGrpSpPr>
            <p:cNvPr id="334" name="Google Shape;334;p17"/>
            <p:cNvGrpSpPr/>
            <p:nvPr/>
          </p:nvGrpSpPr>
          <p:grpSpPr>
            <a:xfrm>
              <a:off x="5441855" y="3081198"/>
              <a:ext cx="6227638" cy="3217804"/>
              <a:chOff x="5441855" y="3081198"/>
              <a:chExt cx="6227638" cy="3217804"/>
            </a:xfrm>
          </p:grpSpPr>
          <p:sp>
            <p:nvSpPr>
              <p:cNvPr id="335" name="Google Shape;335;p17"/>
              <p:cNvSpPr txBox="1"/>
              <p:nvPr/>
            </p:nvSpPr>
            <p:spPr>
              <a:xfrm>
                <a:off x="5468719" y="3081198"/>
                <a:ext cx="6200774" cy="3217804"/>
              </a:xfrm>
              <a:prstGeom prst="rect">
                <a:avLst/>
              </a:prstGeom>
              <a:blipFill rotWithShape="1">
                <a:blip r:embed="rId6">
                  <a:alphaModFix/>
                </a:blip>
                <a:stretch>
                  <a:fillRect l="-982" b="-2461"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sp>
            <p:nvSpPr>
              <p:cNvPr id="336" name="Google Shape;336;p17"/>
              <p:cNvSpPr/>
              <p:nvPr/>
            </p:nvSpPr>
            <p:spPr>
              <a:xfrm>
                <a:off x="5441855" y="3081198"/>
                <a:ext cx="6057417" cy="1938834"/>
              </a:xfrm>
              <a:prstGeom prst="rect">
                <a:avLst/>
              </a:prstGeom>
              <a:noFill/>
              <a:ln w="19050" cap="flat" cmpd="sng">
                <a:solidFill>
                  <a:srgbClr val="92D05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sp>
        <p:nvSpPr>
          <p:cNvPr id="337" name="Google Shape;337;p17"/>
          <p:cNvSpPr/>
          <p:nvPr/>
        </p:nvSpPr>
        <p:spPr>
          <a:xfrm>
            <a:off x="9451285" y="665020"/>
            <a:ext cx="419100" cy="433890"/>
          </a:xfrm>
          <a:prstGeom prst="ellipse">
            <a:avLst/>
          </a:prstGeom>
          <a:solidFill>
            <a:schemeClr val="accent2"/>
          </a:solidFill>
          <a:ln w="12700" cap="flat" cmpd="sng">
            <a:solidFill>
              <a:srgbClr val="4149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8" name="Google Shape;338;p17"/>
          <p:cNvSpPr/>
          <p:nvPr/>
        </p:nvSpPr>
        <p:spPr>
          <a:xfrm>
            <a:off x="11250393" y="2864253"/>
            <a:ext cx="419100" cy="433890"/>
          </a:xfrm>
          <a:prstGeom prst="ellipse">
            <a:avLst/>
          </a:prstGeom>
          <a:solidFill>
            <a:schemeClr val="accent2"/>
          </a:solidFill>
          <a:ln w="12700" cap="flat" cmpd="sng">
            <a:solidFill>
              <a:srgbClr val="4149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9" name="Google Shape;339;p17"/>
          <p:cNvSpPr/>
          <p:nvPr/>
        </p:nvSpPr>
        <p:spPr>
          <a:xfrm>
            <a:off x="4142508" y="1649630"/>
            <a:ext cx="1492213" cy="2336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7"/>
          <p:cNvSpPr/>
          <p:nvPr/>
        </p:nvSpPr>
        <p:spPr>
          <a:xfrm rot="959094">
            <a:off x="4442277" y="3541649"/>
            <a:ext cx="1185164" cy="283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7"/>
          <p:cNvSpPr txBox="1"/>
          <p:nvPr/>
        </p:nvSpPr>
        <p:spPr>
          <a:xfrm>
            <a:off x="9768052" y="4474514"/>
            <a:ext cx="24067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Bob’s original message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8"/>
          <p:cNvSpPr txBox="1">
            <a:spLocks noGrp="1"/>
          </p:cNvSpPr>
          <p:nvPr>
            <p:ph type="title"/>
          </p:nvPr>
        </p:nvSpPr>
        <p:spPr>
          <a:xfrm>
            <a:off x="815830" y="2474605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Times New Roman"/>
              <a:buNone/>
            </a:pPr>
            <a:r>
              <a:rPr lang="en-US" sz="3600"/>
              <a:t>KYBER-KEM</a:t>
            </a:r>
            <a:endParaRPr sz="3600"/>
          </a:p>
        </p:txBody>
      </p:sp>
      <p:sp>
        <p:nvSpPr>
          <p:cNvPr id="347" name="Google Shape;347;p18"/>
          <p:cNvSpPr txBox="1">
            <a:spLocks noGrp="1"/>
          </p:cNvSpPr>
          <p:nvPr>
            <p:ph type="body" idx="1"/>
          </p:nvPr>
        </p:nvSpPr>
        <p:spPr>
          <a:xfrm>
            <a:off x="6172200" y="568538"/>
            <a:ext cx="5876925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Kyber PKE alone is not secure enough.  Applying  “Fujisaki Okamoto” transform 🡪 Kyber KEM</a:t>
            </a:r>
            <a:endParaRPr/>
          </a:p>
          <a:p>
            <a:pPr marL="228600" lvl="0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Key Encapsulation mechanism</a:t>
            </a:r>
            <a:endParaRPr/>
          </a:p>
          <a:p>
            <a:pPr marL="228600" lvl="0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highlight>
                  <a:srgbClr val="FFFF00"/>
                </a:highlight>
              </a:rPr>
              <a:t>Using Kyber-PKE</a:t>
            </a:r>
            <a:r>
              <a:rPr lang="en-US" sz="1800"/>
              <a:t> as base building block</a:t>
            </a:r>
            <a:endParaRPr/>
          </a:p>
          <a:p>
            <a:pPr marL="228600" lvl="0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Use </a:t>
            </a:r>
            <a:r>
              <a:rPr lang="en-US" sz="1800">
                <a:highlight>
                  <a:srgbClr val="FFFF00"/>
                </a:highlight>
              </a:rPr>
              <a:t>Hash() and seed</a:t>
            </a:r>
            <a:r>
              <a:rPr lang="en-US" sz="1800"/>
              <a:t> to create Pseudo RNG alongside</a:t>
            </a:r>
            <a:endParaRPr/>
          </a:p>
          <a:p>
            <a:pPr marL="457200" lvl="1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pure random </a:t>
            </a:r>
            <a:endParaRPr/>
          </a:p>
          <a:p>
            <a:pPr marL="457200" lvl="1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Central binomial Distribution</a:t>
            </a:r>
            <a:endParaRPr/>
          </a:p>
          <a:p>
            <a:pPr marL="228600" lvl="0" indent="-2286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/>
              <a:t>Security : “Secure against chosen ciphertext attack”</a:t>
            </a:r>
            <a:r>
              <a:rPr lang="en-US" sz="1800">
                <a:highlight>
                  <a:srgbClr val="FFFF00"/>
                </a:highlight>
              </a:rPr>
              <a:t> ( more secure than Kyber-PKE)</a:t>
            </a:r>
            <a:endParaRPr/>
          </a:p>
        </p:txBody>
      </p:sp>
      <p:sp>
        <p:nvSpPr>
          <p:cNvPr id="348" name="Google Shape;348;p1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349" name="Google Shape;349;p18"/>
          <p:cNvSpPr txBox="1"/>
          <p:nvPr/>
        </p:nvSpPr>
        <p:spPr>
          <a:xfrm>
            <a:off x="505527" y="5660350"/>
            <a:ext cx="532268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Hash function:</a:t>
            </a: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 A : SHAKE 128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 is SHA3-512, H is SHA3-256, J is SHAKE256</a:t>
            </a:r>
            <a:endParaRPr/>
          </a:p>
        </p:txBody>
      </p:sp>
      <p:sp>
        <p:nvSpPr>
          <p:cNvPr id="350" name="Google Shape;350;p18"/>
          <p:cNvSpPr txBox="1"/>
          <p:nvPr/>
        </p:nvSpPr>
        <p:spPr>
          <a:xfrm>
            <a:off x="1250686" y="3860069"/>
            <a:ext cx="4486657" cy="1421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generation</a:t>
            </a:r>
            <a:endParaRPr/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Encapsulation</a:t>
            </a:r>
            <a:endParaRPr/>
          </a:p>
          <a:p>
            <a:pPr marL="3429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Decapsulation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57" name="Google Shape;357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6749" y="450056"/>
            <a:ext cx="5888562" cy="3209191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19"/>
          <p:cNvSpPr txBox="1"/>
          <p:nvPr/>
        </p:nvSpPr>
        <p:spPr>
          <a:xfrm>
            <a:off x="6309087" y="5272417"/>
            <a:ext cx="4815595" cy="1230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Encapsulation key = Encryption key</a:t>
            </a:r>
            <a:endParaRPr/>
          </a:p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Decapsulation key != Decryptionkey </a:t>
            </a:r>
            <a:endParaRPr/>
          </a:p>
        </p:txBody>
      </p:sp>
      <p:graphicFrame>
        <p:nvGraphicFramePr>
          <p:cNvPr id="359" name="Google Shape;359;p19"/>
          <p:cNvGraphicFramePr/>
          <p:nvPr>
            <p:extLst>
              <p:ext uri="{D42A27DB-BD31-4B8C-83A1-F6EECF244321}">
                <p14:modId xmlns:p14="http://schemas.microsoft.com/office/powerpoint/2010/main" val="3319342238"/>
              </p:ext>
            </p:extLst>
          </p:nvPr>
        </p:nvGraphicFramePr>
        <p:xfrm>
          <a:off x="704850" y="3951115"/>
          <a:ext cx="5495925" cy="2644325"/>
        </p:xfrm>
        <a:graphic>
          <a:graphicData uri="http://schemas.openxmlformats.org/drawingml/2006/table">
            <a:tbl>
              <a:tblPr firstRow="1" bandRow="1">
                <a:noFill/>
                <a:tableStyleId>{5D17D68D-C89F-4385-A75A-1CB72AB6AE1E}</a:tableStyleId>
              </a:tblPr>
              <a:tblGrid>
                <a:gridCol w="1831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1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15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Public key</a:t>
                      </a:r>
                      <a:endParaRPr sz="18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Private key</a:t>
                      </a:r>
                      <a:endParaRPr sz="18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Kyber-KEM</a:t>
                      </a:r>
                      <a:endParaRPr sz="1800">
                        <a:latin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</a:rPr>
                        <a:t>(</a:t>
                      </a:r>
                      <a:r>
                        <a:rPr lang="en-US" sz="1800" dirty="0" err="1">
                          <a:latin typeface="Times New Roman"/>
                        </a:rPr>
                        <a:t>p,t</a:t>
                      </a:r>
                      <a:r>
                        <a:rPr lang="en-US" sz="1800" dirty="0">
                          <a:latin typeface="Times New Roman"/>
                        </a:rPr>
                        <a:t>)</a:t>
                      </a:r>
                      <a:endParaRPr sz="1800" dirty="0">
                        <a:latin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</a:rPr>
                        <a:t>(</a:t>
                      </a:r>
                      <a:r>
                        <a:rPr lang="en-US" sz="1800" dirty="0" err="1">
                          <a:latin typeface="Times New Roman"/>
                        </a:rPr>
                        <a:t>s,ek,H</a:t>
                      </a:r>
                      <a:r>
                        <a:rPr lang="en-US" sz="1800" dirty="0">
                          <a:latin typeface="Times New Roman"/>
                        </a:rPr>
                        <a:t>(ek),z)</a:t>
                      </a:r>
                      <a:endParaRPr sz="1800" dirty="0">
                        <a:latin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Kyber-PKE</a:t>
                      </a:r>
                      <a:endParaRPr sz="1800">
                        <a:latin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</a:rPr>
                        <a:t>(</a:t>
                      </a:r>
                      <a:r>
                        <a:rPr lang="en-US" sz="1800" err="1">
                          <a:latin typeface="Times New Roman"/>
                        </a:rPr>
                        <a:t>p,t</a:t>
                      </a:r>
                      <a:r>
                        <a:rPr lang="en-US" sz="1800" dirty="0">
                          <a:latin typeface="Times New Roman"/>
                        </a:rPr>
                        <a:t>)</a:t>
                      </a:r>
                      <a:endParaRPr sz="1800" dirty="0">
                        <a:latin typeface="Times New Roman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Times New Roman"/>
                        </a:rPr>
                        <a:t>s</a:t>
                      </a:r>
                      <a:endParaRPr sz="1800" dirty="0">
                        <a:latin typeface="Times New Roman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60" name="Google Shape;360;p19"/>
          <p:cNvGrpSpPr/>
          <p:nvPr/>
        </p:nvGrpSpPr>
        <p:grpSpPr>
          <a:xfrm>
            <a:off x="6802683" y="158803"/>
            <a:ext cx="5012118" cy="3511889"/>
            <a:chOff x="6802683" y="158803"/>
            <a:chExt cx="5012118" cy="3511889"/>
          </a:xfrm>
        </p:grpSpPr>
        <p:sp>
          <p:nvSpPr>
            <p:cNvPr id="361" name="Google Shape;361;p19"/>
            <p:cNvSpPr txBox="1"/>
            <p:nvPr/>
          </p:nvSpPr>
          <p:spPr>
            <a:xfrm>
              <a:off x="6802683" y="272846"/>
              <a:ext cx="4684467" cy="3363228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l="-1430" b="-253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grpSp>
          <p:nvGrpSpPr>
            <p:cNvPr id="362" name="Google Shape;362;p19"/>
            <p:cNvGrpSpPr/>
            <p:nvPr/>
          </p:nvGrpSpPr>
          <p:grpSpPr>
            <a:xfrm>
              <a:off x="6802683" y="158803"/>
              <a:ext cx="5012118" cy="3511889"/>
              <a:chOff x="6802683" y="158803"/>
              <a:chExt cx="5012118" cy="3511889"/>
            </a:xfrm>
          </p:grpSpPr>
          <p:sp>
            <p:nvSpPr>
              <p:cNvPr id="363" name="Google Shape;363;p19"/>
              <p:cNvSpPr/>
              <p:nvPr/>
            </p:nvSpPr>
            <p:spPr>
              <a:xfrm>
                <a:off x="6802683" y="375748"/>
                <a:ext cx="4802568" cy="3294944"/>
              </a:xfrm>
              <a:prstGeom prst="rect">
                <a:avLst/>
              </a:prstGeom>
              <a:noFill/>
              <a:ln w="19050" cap="flat" cmpd="sng">
                <a:solidFill>
                  <a:srgbClr val="92D05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364" name="Google Shape;364;p19"/>
              <p:cNvSpPr/>
              <p:nvPr/>
            </p:nvSpPr>
            <p:spPr>
              <a:xfrm>
                <a:off x="11395701" y="158803"/>
                <a:ext cx="419100" cy="433890"/>
              </a:xfrm>
              <a:prstGeom prst="ellipse">
                <a:avLst/>
              </a:prstGeom>
              <a:solidFill>
                <a:schemeClr val="accent2"/>
              </a:solidFill>
              <a:ln w="12700" cap="flat" cmpd="sng">
                <a:solidFill>
                  <a:srgbClr val="41494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l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1</a:t>
                </a: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grpSp>
        <p:nvGrpSpPr>
          <p:cNvPr id="365" name="Google Shape;365;p19"/>
          <p:cNvGrpSpPr/>
          <p:nvPr/>
        </p:nvGrpSpPr>
        <p:grpSpPr>
          <a:xfrm>
            <a:off x="6802683" y="3738976"/>
            <a:ext cx="5012118" cy="1150089"/>
            <a:chOff x="6802683" y="3445223"/>
            <a:chExt cx="5012118" cy="1150089"/>
          </a:xfrm>
        </p:grpSpPr>
        <p:sp>
          <p:nvSpPr>
            <p:cNvPr id="366" name="Google Shape;366;p19"/>
            <p:cNvSpPr txBox="1"/>
            <p:nvPr/>
          </p:nvSpPr>
          <p:spPr>
            <a:xfrm>
              <a:off x="7243573" y="3746188"/>
              <a:ext cx="4243577" cy="619657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grpSp>
          <p:nvGrpSpPr>
            <p:cNvPr id="367" name="Google Shape;367;p19"/>
            <p:cNvGrpSpPr/>
            <p:nvPr/>
          </p:nvGrpSpPr>
          <p:grpSpPr>
            <a:xfrm>
              <a:off x="6802683" y="3445223"/>
              <a:ext cx="5012118" cy="1150089"/>
              <a:chOff x="6802683" y="3445223"/>
              <a:chExt cx="5012118" cy="1150089"/>
            </a:xfrm>
          </p:grpSpPr>
          <p:sp>
            <p:nvSpPr>
              <p:cNvPr id="368" name="Google Shape;368;p19"/>
              <p:cNvSpPr/>
              <p:nvPr/>
            </p:nvSpPr>
            <p:spPr>
              <a:xfrm>
                <a:off x="6802683" y="3711570"/>
                <a:ext cx="4802568" cy="883742"/>
              </a:xfrm>
              <a:prstGeom prst="rect">
                <a:avLst/>
              </a:prstGeom>
              <a:noFill/>
              <a:ln w="19050" cap="flat" cmpd="sng">
                <a:solidFill>
                  <a:srgbClr val="92D05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369" name="Google Shape;369;p19"/>
              <p:cNvSpPr/>
              <p:nvPr/>
            </p:nvSpPr>
            <p:spPr>
              <a:xfrm>
                <a:off x="11395701" y="3445223"/>
                <a:ext cx="419100" cy="433890"/>
              </a:xfrm>
              <a:prstGeom prst="ellipse">
                <a:avLst/>
              </a:prstGeom>
              <a:solidFill>
                <a:schemeClr val="accent2"/>
              </a:solidFill>
              <a:ln w="12700" cap="flat" cmpd="sng">
                <a:solidFill>
                  <a:srgbClr val="41494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l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2</a:t>
                </a: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sp>
        <p:nvSpPr>
          <p:cNvPr id="370" name="Google Shape;370;p19"/>
          <p:cNvSpPr/>
          <p:nvPr/>
        </p:nvSpPr>
        <p:spPr>
          <a:xfrm>
            <a:off x="5851648" y="1476882"/>
            <a:ext cx="951035" cy="21337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9"/>
          <p:cNvSpPr/>
          <p:nvPr/>
        </p:nvSpPr>
        <p:spPr>
          <a:xfrm rot="5400000">
            <a:off x="4485879" y="1450853"/>
            <a:ext cx="1658082" cy="3380184"/>
          </a:xfrm>
          <a:prstGeom prst="bentArrow">
            <a:avLst>
              <a:gd name="adj1" fmla="val 7401"/>
              <a:gd name="adj2" fmla="val 8758"/>
              <a:gd name="adj3" fmla="val 14662"/>
              <a:gd name="adj4" fmla="val 4375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t>20</a:t>
            </a:fld>
            <a:endParaRPr sz="2000"/>
          </a:p>
        </p:txBody>
      </p:sp>
      <p:pic>
        <p:nvPicPr>
          <p:cNvPr id="377" name="Google Shape;37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6776" y="778967"/>
            <a:ext cx="4806391" cy="4819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8" name="Google Shape;378;p20"/>
          <p:cNvGrpSpPr/>
          <p:nvPr/>
        </p:nvGrpSpPr>
        <p:grpSpPr>
          <a:xfrm>
            <a:off x="6554740" y="441317"/>
            <a:ext cx="4569942" cy="898408"/>
            <a:chOff x="6554740" y="441317"/>
            <a:chExt cx="4569942" cy="898408"/>
          </a:xfrm>
        </p:grpSpPr>
        <p:sp>
          <p:nvSpPr>
            <p:cNvPr id="379" name="Google Shape;379;p20"/>
            <p:cNvSpPr txBox="1"/>
            <p:nvPr/>
          </p:nvSpPr>
          <p:spPr>
            <a:xfrm>
              <a:off x="6576078" y="796006"/>
              <a:ext cx="4548604" cy="40011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-922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grpSp>
          <p:nvGrpSpPr>
            <p:cNvPr id="380" name="Google Shape;380;p20"/>
            <p:cNvGrpSpPr/>
            <p:nvPr/>
          </p:nvGrpSpPr>
          <p:grpSpPr>
            <a:xfrm>
              <a:off x="6554740" y="441317"/>
              <a:ext cx="4376517" cy="898408"/>
              <a:chOff x="6554740" y="441317"/>
              <a:chExt cx="4376517" cy="898408"/>
            </a:xfrm>
          </p:grpSpPr>
          <p:sp>
            <p:nvSpPr>
              <p:cNvPr id="381" name="Google Shape;381;p20"/>
              <p:cNvSpPr/>
              <p:nvPr/>
            </p:nvSpPr>
            <p:spPr>
              <a:xfrm>
                <a:off x="6554740" y="627254"/>
                <a:ext cx="4161754" cy="712471"/>
              </a:xfrm>
              <a:prstGeom prst="rect">
                <a:avLst/>
              </a:prstGeom>
              <a:noFill/>
              <a:ln w="19050" cap="flat" cmpd="sng">
                <a:solidFill>
                  <a:srgbClr val="92D05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  <p:sp>
            <p:nvSpPr>
              <p:cNvPr id="382" name="Google Shape;382;p20"/>
              <p:cNvSpPr/>
              <p:nvPr/>
            </p:nvSpPr>
            <p:spPr>
              <a:xfrm>
                <a:off x="10512157" y="441317"/>
                <a:ext cx="419100" cy="433890"/>
              </a:xfrm>
              <a:prstGeom prst="ellipse">
                <a:avLst/>
              </a:prstGeom>
              <a:solidFill>
                <a:schemeClr val="accent2"/>
              </a:solidFill>
              <a:ln w="12700" cap="flat" cmpd="sng">
                <a:solidFill>
                  <a:srgbClr val="41494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lt1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1</a:t>
                </a: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</p:grpSp>
      <p:grpSp>
        <p:nvGrpSpPr>
          <p:cNvPr id="383" name="Google Shape;383;p20"/>
          <p:cNvGrpSpPr/>
          <p:nvPr/>
        </p:nvGrpSpPr>
        <p:grpSpPr>
          <a:xfrm>
            <a:off x="6554740" y="1421989"/>
            <a:ext cx="4770484" cy="820754"/>
            <a:chOff x="6554740" y="1421989"/>
            <a:chExt cx="4770484" cy="820754"/>
          </a:xfrm>
        </p:grpSpPr>
        <p:sp>
          <p:nvSpPr>
            <p:cNvPr id="384" name="Google Shape;384;p20"/>
            <p:cNvSpPr txBox="1"/>
            <p:nvPr/>
          </p:nvSpPr>
          <p:spPr>
            <a:xfrm>
              <a:off x="6576078" y="1627865"/>
              <a:ext cx="4749146" cy="400110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t="-7574" b="-25755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385" name="Google Shape;385;p20"/>
            <p:cNvSpPr/>
            <p:nvPr/>
          </p:nvSpPr>
          <p:spPr>
            <a:xfrm>
              <a:off x="6554740" y="1530272"/>
              <a:ext cx="4161754" cy="712471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386" name="Google Shape;386;p20"/>
            <p:cNvSpPr/>
            <p:nvPr/>
          </p:nvSpPr>
          <p:spPr>
            <a:xfrm>
              <a:off x="10512157" y="1421989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387" name="Google Shape;387;p20"/>
          <p:cNvGrpSpPr/>
          <p:nvPr/>
        </p:nvGrpSpPr>
        <p:grpSpPr>
          <a:xfrm>
            <a:off x="6554740" y="2287628"/>
            <a:ext cx="4736240" cy="3268652"/>
            <a:chOff x="6554740" y="2287628"/>
            <a:chExt cx="4736240" cy="3268652"/>
          </a:xfrm>
        </p:grpSpPr>
        <p:grpSp>
          <p:nvGrpSpPr>
            <p:cNvPr id="388" name="Google Shape;388;p20"/>
            <p:cNvGrpSpPr/>
            <p:nvPr/>
          </p:nvGrpSpPr>
          <p:grpSpPr>
            <a:xfrm>
              <a:off x="6554740" y="2287628"/>
              <a:ext cx="4694284" cy="3268652"/>
              <a:chOff x="6644984" y="2227785"/>
              <a:chExt cx="4694284" cy="4887046"/>
            </a:xfrm>
          </p:grpSpPr>
          <p:sp>
            <p:nvSpPr>
              <p:cNvPr id="389" name="Google Shape;389;p20"/>
              <p:cNvSpPr txBox="1"/>
              <p:nvPr/>
            </p:nvSpPr>
            <p:spPr>
              <a:xfrm>
                <a:off x="6742522" y="2227785"/>
                <a:ext cx="4596746" cy="4887046"/>
              </a:xfrm>
              <a:prstGeom prst="rect">
                <a:avLst/>
              </a:prstGeom>
              <a:blipFill rotWithShape="1">
                <a:blip r:embed="rId6">
                  <a:alphaModFix/>
                </a:blip>
                <a:stretch>
                  <a:fillRect l="-1325"/>
                </a:stretch>
              </a:blip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latin typeface="Arial"/>
                    <a:ea typeface="Arial"/>
                    <a:cs typeface="Arial"/>
                    <a:sym typeface="Arial"/>
                  </a:rPr>
                  <a:t> </a:t>
                </a:r>
                <a:endParaRPr/>
              </a:p>
            </p:txBody>
          </p:sp>
          <p:sp>
            <p:nvSpPr>
              <p:cNvPr id="390" name="Google Shape;390;p20"/>
              <p:cNvSpPr/>
              <p:nvPr/>
            </p:nvSpPr>
            <p:spPr>
              <a:xfrm>
                <a:off x="6644984" y="2448748"/>
                <a:ext cx="4647900" cy="3330953"/>
              </a:xfrm>
              <a:prstGeom prst="rect">
                <a:avLst/>
              </a:prstGeom>
              <a:noFill/>
              <a:ln w="19050" cap="flat" cmpd="sng">
                <a:solidFill>
                  <a:srgbClr val="92D05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endParaRPr>
              </a:p>
            </p:txBody>
          </p:sp>
        </p:grpSp>
        <p:sp>
          <p:nvSpPr>
            <p:cNvPr id="391" name="Google Shape;391;p20"/>
            <p:cNvSpPr/>
            <p:nvPr/>
          </p:nvSpPr>
          <p:spPr>
            <a:xfrm>
              <a:off x="10871880" y="2287628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3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392" name="Google Shape;392;p20"/>
          <p:cNvGrpSpPr/>
          <p:nvPr/>
        </p:nvGrpSpPr>
        <p:grpSpPr>
          <a:xfrm>
            <a:off x="6576077" y="4535632"/>
            <a:ext cx="5508135" cy="1909161"/>
            <a:chOff x="6541292" y="4491233"/>
            <a:chExt cx="5080448" cy="1909161"/>
          </a:xfrm>
        </p:grpSpPr>
        <p:sp>
          <p:nvSpPr>
            <p:cNvPr id="393" name="Google Shape;393;p20"/>
            <p:cNvSpPr txBox="1"/>
            <p:nvPr/>
          </p:nvSpPr>
          <p:spPr>
            <a:xfrm>
              <a:off x="6697998" y="4843290"/>
              <a:ext cx="4923742" cy="1421992"/>
            </a:xfrm>
            <a:prstGeom prst="rect">
              <a:avLst/>
            </a:prstGeom>
            <a:blipFill rotWithShape="1">
              <a:blip r:embed="rId7">
                <a:alphaModFix/>
              </a:blip>
              <a:stretch>
                <a:fillRect l="-1256" b="-6865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394" name="Google Shape;394;p20"/>
            <p:cNvSpPr/>
            <p:nvPr/>
          </p:nvSpPr>
          <p:spPr>
            <a:xfrm>
              <a:off x="6541292" y="4708178"/>
              <a:ext cx="5080448" cy="1692216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395" name="Google Shape;395;p20"/>
            <p:cNvSpPr/>
            <p:nvPr/>
          </p:nvSpPr>
          <p:spPr>
            <a:xfrm>
              <a:off x="11202640" y="4491233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4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sp>
        <p:nvSpPr>
          <p:cNvPr id="396" name="Google Shape;396;p20"/>
          <p:cNvSpPr/>
          <p:nvPr/>
        </p:nvSpPr>
        <p:spPr>
          <a:xfrm>
            <a:off x="5723157" y="3253374"/>
            <a:ext cx="745685" cy="21573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20"/>
          <p:cNvSpPr/>
          <p:nvPr/>
        </p:nvSpPr>
        <p:spPr>
          <a:xfrm rot="-658641">
            <a:off x="3704080" y="2152819"/>
            <a:ext cx="2722092" cy="18466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0"/>
          <p:cNvSpPr/>
          <p:nvPr/>
        </p:nvSpPr>
        <p:spPr>
          <a:xfrm rot="-1284427">
            <a:off x="5056163" y="1300462"/>
            <a:ext cx="1368103" cy="22891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20"/>
          <p:cNvSpPr/>
          <p:nvPr/>
        </p:nvSpPr>
        <p:spPr>
          <a:xfrm rot="634811">
            <a:off x="5542304" y="4819201"/>
            <a:ext cx="745685" cy="21573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0"/>
          <p:cNvSpPr txBox="1"/>
          <p:nvPr/>
        </p:nvSpPr>
        <p:spPr>
          <a:xfrm>
            <a:off x="4029338" y="5714941"/>
            <a:ext cx="2064482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Send ciphertext c to Alice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21"/>
          <p:cNvSpPr>
            <a:spLocks noGrp="1"/>
          </p:cNvSpPr>
          <p:nvPr>
            <p:ph type="sldNum" idx="12"/>
          </p:nvPr>
        </p:nvSpPr>
        <p:spPr>
          <a:xfrm>
            <a:off x="11225569" y="6302945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407" name="Google Shape;407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2739" y="933452"/>
            <a:ext cx="5812030" cy="4192670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21"/>
          <p:cNvSpPr txBox="1"/>
          <p:nvPr/>
        </p:nvSpPr>
        <p:spPr>
          <a:xfrm>
            <a:off x="3339083" y="4316248"/>
            <a:ext cx="24765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Decapsulation fail</a:t>
            </a:r>
            <a:endParaRPr sz="180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p21"/>
          <p:cNvSpPr txBox="1"/>
          <p:nvPr/>
        </p:nvSpPr>
        <p:spPr>
          <a:xfrm>
            <a:off x="2131740" y="4756790"/>
            <a:ext cx="2700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Decapsulation successful</a:t>
            </a:r>
            <a:endParaRPr sz="180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410" name="Google Shape;410;p21"/>
          <p:cNvGrpSpPr/>
          <p:nvPr/>
        </p:nvGrpSpPr>
        <p:grpSpPr>
          <a:xfrm>
            <a:off x="6782463" y="531130"/>
            <a:ext cx="5231478" cy="974224"/>
            <a:chOff x="6769502" y="717476"/>
            <a:chExt cx="5231478" cy="974224"/>
          </a:xfrm>
        </p:grpSpPr>
        <p:sp>
          <p:nvSpPr>
            <p:cNvPr id="411" name="Google Shape;411;p21"/>
            <p:cNvSpPr txBox="1"/>
            <p:nvPr/>
          </p:nvSpPr>
          <p:spPr>
            <a:xfrm>
              <a:off x="6819381" y="1007642"/>
              <a:ext cx="5181599" cy="649409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l="-1058" t="-5659" b="-15091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412" name="Google Shape;412;p21"/>
            <p:cNvSpPr/>
            <p:nvPr/>
          </p:nvSpPr>
          <p:spPr>
            <a:xfrm>
              <a:off x="6769502" y="979229"/>
              <a:ext cx="4667821" cy="712471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413" name="Google Shape;413;p21"/>
            <p:cNvSpPr/>
            <p:nvPr/>
          </p:nvSpPr>
          <p:spPr>
            <a:xfrm>
              <a:off x="11227772" y="717476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414" name="Google Shape;414;p21"/>
          <p:cNvGrpSpPr/>
          <p:nvPr/>
        </p:nvGrpSpPr>
        <p:grpSpPr>
          <a:xfrm>
            <a:off x="6767298" y="1763604"/>
            <a:ext cx="5109065" cy="1423976"/>
            <a:chOff x="6828905" y="1660235"/>
            <a:chExt cx="5109065" cy="1423976"/>
          </a:xfrm>
        </p:grpSpPr>
        <p:sp>
          <p:nvSpPr>
            <p:cNvPr id="415" name="Google Shape;415;p21"/>
            <p:cNvSpPr txBox="1"/>
            <p:nvPr/>
          </p:nvSpPr>
          <p:spPr>
            <a:xfrm>
              <a:off x="6942763" y="1747038"/>
              <a:ext cx="4995207" cy="1293687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l="-1098" b="-6602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416" name="Google Shape;416;p21"/>
            <p:cNvSpPr/>
            <p:nvPr/>
          </p:nvSpPr>
          <p:spPr>
            <a:xfrm>
              <a:off x="6828905" y="1660235"/>
              <a:ext cx="4667821" cy="1423976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417" name="Google Shape;417;p21"/>
            <p:cNvSpPr/>
            <p:nvPr/>
          </p:nvSpPr>
          <p:spPr>
            <a:xfrm>
              <a:off x="11227772" y="1759612"/>
              <a:ext cx="419100" cy="43389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418" name="Google Shape;418;p21"/>
          <p:cNvGrpSpPr/>
          <p:nvPr/>
        </p:nvGrpSpPr>
        <p:grpSpPr>
          <a:xfrm>
            <a:off x="6767298" y="3257594"/>
            <a:ext cx="5047285" cy="793428"/>
            <a:chOff x="6767298" y="3174715"/>
            <a:chExt cx="5047285" cy="793428"/>
          </a:xfrm>
        </p:grpSpPr>
        <p:sp>
          <p:nvSpPr>
            <p:cNvPr id="419" name="Google Shape;419;p21"/>
            <p:cNvSpPr txBox="1"/>
            <p:nvPr/>
          </p:nvSpPr>
          <p:spPr>
            <a:xfrm>
              <a:off x="6819376" y="3386763"/>
              <a:ext cx="4995207" cy="369332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t="-8196" b="-2458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420" name="Google Shape;420;p21"/>
            <p:cNvSpPr/>
            <p:nvPr/>
          </p:nvSpPr>
          <p:spPr>
            <a:xfrm>
              <a:off x="6767298" y="3255672"/>
              <a:ext cx="4667821" cy="712471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421" name="Google Shape;421;p21"/>
            <p:cNvSpPr/>
            <p:nvPr/>
          </p:nvSpPr>
          <p:spPr>
            <a:xfrm>
              <a:off x="11225569" y="3174715"/>
              <a:ext cx="419100" cy="419113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3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grpSp>
        <p:nvGrpSpPr>
          <p:cNvPr id="422" name="Google Shape;422;p21"/>
          <p:cNvGrpSpPr/>
          <p:nvPr/>
        </p:nvGrpSpPr>
        <p:grpSpPr>
          <a:xfrm>
            <a:off x="6742776" y="4241763"/>
            <a:ext cx="5179109" cy="1794941"/>
            <a:chOff x="6822051" y="4183173"/>
            <a:chExt cx="5179109" cy="1794941"/>
          </a:xfrm>
        </p:grpSpPr>
        <p:sp>
          <p:nvSpPr>
            <p:cNvPr id="423" name="Google Shape;423;p21"/>
            <p:cNvSpPr txBox="1"/>
            <p:nvPr/>
          </p:nvSpPr>
          <p:spPr>
            <a:xfrm>
              <a:off x="6923180" y="4464833"/>
              <a:ext cx="5077980" cy="1289071"/>
            </a:xfrm>
            <a:prstGeom prst="rect">
              <a:avLst/>
            </a:prstGeom>
            <a:blipFill rotWithShape="1">
              <a:blip r:embed="rId7">
                <a:alphaModFix/>
              </a:blip>
              <a:stretch>
                <a:fillRect l="-1079" b="-7107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/>
            </a:p>
          </p:txBody>
        </p:sp>
        <p:sp>
          <p:nvSpPr>
            <p:cNvPr id="424" name="Google Shape;424;p21"/>
            <p:cNvSpPr/>
            <p:nvPr/>
          </p:nvSpPr>
          <p:spPr>
            <a:xfrm>
              <a:off x="6822051" y="4430478"/>
              <a:ext cx="4917058" cy="1547636"/>
            </a:xfrm>
            <a:prstGeom prst="rect">
              <a:avLst/>
            </a:prstGeom>
            <a:noFill/>
            <a:ln w="19050" cap="flat" cmpd="sng">
              <a:solidFill>
                <a:srgbClr val="92D0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425" name="Google Shape;425;p21"/>
            <p:cNvSpPr/>
            <p:nvPr/>
          </p:nvSpPr>
          <p:spPr>
            <a:xfrm>
              <a:off x="11529558" y="4183173"/>
              <a:ext cx="419100" cy="407637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rgbClr val="41494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4</a:t>
              </a:r>
              <a:endParaRPr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</p:grpSp>
      <p:sp>
        <p:nvSpPr>
          <p:cNvPr id="426" name="Google Shape;426;p21"/>
          <p:cNvSpPr/>
          <p:nvPr/>
        </p:nvSpPr>
        <p:spPr>
          <a:xfrm rot="-441115">
            <a:off x="5585375" y="1364601"/>
            <a:ext cx="1021251" cy="26184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1"/>
          <p:cNvSpPr/>
          <p:nvPr/>
        </p:nvSpPr>
        <p:spPr>
          <a:xfrm>
            <a:off x="4683731" y="2386584"/>
            <a:ext cx="1876219" cy="262177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21"/>
          <p:cNvSpPr/>
          <p:nvPr/>
        </p:nvSpPr>
        <p:spPr>
          <a:xfrm rot="192349">
            <a:off x="3190472" y="3126103"/>
            <a:ext cx="3548958" cy="236279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1"/>
          <p:cNvSpPr/>
          <p:nvPr/>
        </p:nvSpPr>
        <p:spPr>
          <a:xfrm rot="955102">
            <a:off x="5367859" y="4325087"/>
            <a:ext cx="1252449" cy="26503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6744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21"/>
          <p:cNvSpPr/>
          <p:nvPr/>
        </p:nvSpPr>
        <p:spPr>
          <a:xfrm>
            <a:off x="8156863" y="5437035"/>
            <a:ext cx="365760" cy="36576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1" name="Google Shape;431;p21"/>
          <p:cNvSpPr/>
          <p:nvPr/>
        </p:nvSpPr>
        <p:spPr>
          <a:xfrm>
            <a:off x="388917" y="1257827"/>
            <a:ext cx="365760" cy="36576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2"/>
          <p:cNvSpPr txBox="1">
            <a:spLocks noGrp="1"/>
          </p:cNvSpPr>
          <p:nvPr>
            <p:ph type="title"/>
          </p:nvPr>
        </p:nvSpPr>
        <p:spPr>
          <a:xfrm>
            <a:off x="2135886" y="101279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/>
          <a:p>
            <a:r>
              <a:rPr lang="en-US" dirty="0"/>
              <a:t>Current work</a:t>
            </a:r>
          </a:p>
        </p:txBody>
      </p:sp>
      <p:sp>
        <p:nvSpPr>
          <p:cNvPr id="437" name="Google Shape;437;p22"/>
          <p:cNvSpPr txBox="1">
            <a:spLocks noGrp="1"/>
          </p:cNvSpPr>
          <p:nvPr>
            <p:ph type="body" idx="1"/>
          </p:nvPr>
        </p:nvSpPr>
        <p:spPr>
          <a:xfrm>
            <a:off x="2088821" y="1285494"/>
            <a:ext cx="8520303" cy="4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en-US" sz="2400" b="1" dirty="0"/>
              <a:t>Design and implementation Kyber's modules</a:t>
            </a:r>
          </a:p>
          <a:p>
            <a:pPr marL="342900">
              <a:lnSpc>
                <a:spcPct val="200000"/>
              </a:lnSpc>
              <a:spcBef>
                <a:spcPts val="0"/>
              </a:spcBef>
              <a:buSzPts val="2000"/>
            </a:pPr>
            <a:r>
              <a:rPr lang="en-US" sz="2000" dirty="0"/>
              <a:t>Based on official documentations &amp; C-implementation reference</a:t>
            </a:r>
          </a:p>
          <a:p>
            <a:pPr marL="342900">
              <a:lnSpc>
                <a:spcPct val="200000"/>
              </a:lnSpc>
              <a:spcBef>
                <a:spcPts val="0"/>
              </a:spcBef>
              <a:buSzPts val="2000"/>
            </a:pPr>
            <a:r>
              <a:rPr lang="en-US" sz="2000" dirty="0"/>
              <a:t>Design module in System Verilog</a:t>
            </a:r>
          </a:p>
          <a:p>
            <a:pPr marL="342900">
              <a:lnSpc>
                <a:spcPct val="200000"/>
              </a:lnSpc>
              <a:spcBef>
                <a:spcPts val="0"/>
              </a:spcBef>
              <a:buSzPts val="2000"/>
            </a:pPr>
            <a:r>
              <a:rPr lang="en-US" sz="2000" dirty="0"/>
              <a:t>Verification compare RTL output vs C-reference output</a:t>
            </a:r>
          </a:p>
        </p:txBody>
      </p:sp>
      <p:sp>
        <p:nvSpPr>
          <p:cNvPr id="438" name="Google Shape;438;p2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364D2C-823F-E7D9-404C-AAFEED2D1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43" y="4058771"/>
            <a:ext cx="4700868" cy="2015939"/>
          </a:xfrm>
          <a:prstGeom prst="rect">
            <a:avLst/>
          </a:prstGeom>
        </p:spPr>
      </p:pic>
      <p:pic>
        <p:nvPicPr>
          <p:cNvPr id="4" name="Picture 3" descr="A close-up of a card&#10;&#10;AI-generated content may be incorrect.">
            <a:extLst>
              <a:ext uri="{FF2B5EF4-FFF2-40B4-BE49-F238E27FC236}">
                <a16:creationId xmlns:a16="http://schemas.microsoft.com/office/drawing/2014/main" id="{93BE9A4A-D485-437F-50F6-8BEE3CF45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81" y="4037198"/>
            <a:ext cx="5162551" cy="19145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AF07DA-B976-9812-3CA9-E1135621AEE0}"/>
              </a:ext>
            </a:extLst>
          </p:cNvPr>
          <p:cNvSpPr txBox="1"/>
          <p:nvPr/>
        </p:nvSpPr>
        <p:spPr>
          <a:xfrm>
            <a:off x="1238250" y="6315075"/>
            <a:ext cx="357187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https://github.com/pq-crystals/kyber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05902-7DA3-8D55-0D33-EC326C88BE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pic>
        <p:nvPicPr>
          <p:cNvPr id="4" name="Picture 3" descr="A computer screen with text&#10;&#10;AI-generated content may be incorrect.">
            <a:extLst>
              <a:ext uri="{FF2B5EF4-FFF2-40B4-BE49-F238E27FC236}">
                <a16:creationId xmlns:a16="http://schemas.microsoft.com/office/drawing/2014/main" id="{92AA3A61-A50B-7293-C145-915326192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60" y="3218903"/>
            <a:ext cx="5200650" cy="838200"/>
          </a:xfrm>
          <a:prstGeom prst="rect">
            <a:avLst/>
          </a:prstGeom>
        </p:spPr>
      </p:pic>
      <p:pic>
        <p:nvPicPr>
          <p:cNvPr id="6" name="Picture 5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7060332F-BEAD-4667-6EA6-1FCA819E1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3056" y="1141303"/>
            <a:ext cx="6320878" cy="49549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CBD298-90DE-4390-5AA4-1F10826BA189}"/>
              </a:ext>
            </a:extLst>
          </p:cNvPr>
          <p:cNvSpPr txBox="1"/>
          <p:nvPr/>
        </p:nvSpPr>
        <p:spPr>
          <a:xfrm>
            <a:off x="2125498" y="4230632"/>
            <a:ext cx="118745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Times New Roman"/>
              </a:rPr>
              <a:t>C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A71917-2137-8827-1C94-021DBCEF5E8A}"/>
              </a:ext>
            </a:extLst>
          </p:cNvPr>
          <p:cNvSpPr txBox="1"/>
          <p:nvPr/>
        </p:nvSpPr>
        <p:spPr>
          <a:xfrm>
            <a:off x="7687221" y="6183803"/>
            <a:ext cx="2685173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Times New Roman"/>
              </a:rPr>
              <a:t>System Verilog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A59ED8-C631-1350-4EAA-71E262126E0F}"/>
              </a:ext>
            </a:extLst>
          </p:cNvPr>
          <p:cNvSpPr txBox="1"/>
          <p:nvPr/>
        </p:nvSpPr>
        <p:spPr>
          <a:xfrm>
            <a:off x="638612" y="1595053"/>
            <a:ext cx="4318547" cy="96000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000" dirty="0">
                <a:solidFill>
                  <a:schemeClr val="tx1">
                    <a:lumMod val="76000"/>
                    <a:lumOff val="24000"/>
                  </a:schemeClr>
                </a:solidFill>
                <a:latin typeface="Times New Roman"/>
              </a:rPr>
              <a:t>multiply a*b</a:t>
            </a:r>
            <a:endParaRPr lang="en-US" sz="1600" dirty="0">
              <a:solidFill>
                <a:schemeClr val="tx1">
                  <a:lumMod val="76000"/>
                  <a:lumOff val="24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000" dirty="0">
                <a:solidFill>
                  <a:schemeClr val="tx1">
                    <a:lumMod val="76000"/>
                    <a:lumOff val="24000"/>
                  </a:schemeClr>
                </a:solidFill>
                <a:latin typeface="Times New Roman"/>
              </a:rPr>
              <a:t>Montgomery reduction</a:t>
            </a:r>
            <a:endParaRPr lang="en-US" sz="1600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B24165B8-DAA4-0046-EDB4-06D89F773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4929" y="1244"/>
            <a:ext cx="7642142" cy="1048583"/>
          </a:xfrm>
        </p:spPr>
        <p:txBody>
          <a:bodyPr/>
          <a:lstStyle/>
          <a:p>
            <a:r>
              <a:rPr lang="en-US" dirty="0" err="1"/>
              <a:t>fqmul</a:t>
            </a:r>
          </a:p>
        </p:txBody>
      </p:sp>
    </p:spTree>
    <p:extLst>
      <p:ext uri="{BB962C8B-B14F-4D97-AF65-F5344CB8AC3E}">
        <p14:creationId xmlns:p14="http://schemas.microsoft.com/office/powerpoint/2010/main" val="1569159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71A085-B7E8-8CCC-212D-D6F2DA3B61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  <p:pic>
        <p:nvPicPr>
          <p:cNvPr id="6" name="Picture 5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52751DD6-75DE-9E45-91BE-A67867323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04018" y="1718278"/>
            <a:ext cx="6305550" cy="2790825"/>
          </a:xfrm>
          <a:prstGeom prst="rect">
            <a:avLst/>
          </a:prstGeom>
        </p:spPr>
      </p:pic>
      <p:pic>
        <p:nvPicPr>
          <p:cNvPr id="7" name="Picture 6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F29058CF-EF52-D699-28AF-01713B785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644" y="1276350"/>
            <a:ext cx="5276850" cy="4305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6783DE-A495-FF5A-7BB0-8788A26FE183}"/>
              </a:ext>
            </a:extLst>
          </p:cNvPr>
          <p:cNvSpPr txBox="1"/>
          <p:nvPr/>
        </p:nvSpPr>
        <p:spPr>
          <a:xfrm>
            <a:off x="2467471" y="4813853"/>
            <a:ext cx="118745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Times New Roman"/>
              </a:rPr>
              <a:t>C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1C18C5-FE5B-3A0D-633B-306CAA9B5207}"/>
              </a:ext>
            </a:extLst>
          </p:cNvPr>
          <p:cNvSpPr txBox="1"/>
          <p:nvPr/>
        </p:nvSpPr>
        <p:spPr>
          <a:xfrm>
            <a:off x="7748531" y="5815941"/>
            <a:ext cx="2685173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latin typeface="Times New Roman"/>
              </a:rPr>
              <a:t>System Verilog</a:t>
            </a:r>
          </a:p>
        </p:txBody>
      </p:sp>
      <p:sp>
        <p:nvSpPr>
          <p:cNvPr id="13" name="Title 14">
            <a:extLst>
              <a:ext uri="{FF2B5EF4-FFF2-40B4-BE49-F238E27FC236}">
                <a16:creationId xmlns:a16="http://schemas.microsoft.com/office/drawing/2014/main" id="{9E6B9160-BC49-D21D-CDB0-3577DD903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4929" y="1244"/>
            <a:ext cx="7642142" cy="1048583"/>
          </a:xfrm>
        </p:spPr>
        <p:txBody>
          <a:bodyPr/>
          <a:lstStyle/>
          <a:p>
            <a:r>
              <a:rPr lang="en-US" dirty="0" err="1"/>
              <a:t>montgomery_reduce</a:t>
            </a:r>
          </a:p>
        </p:txBody>
      </p:sp>
    </p:spTree>
    <p:extLst>
      <p:ext uri="{BB962C8B-B14F-4D97-AF65-F5344CB8AC3E}">
        <p14:creationId xmlns:p14="http://schemas.microsoft.com/office/powerpoint/2010/main" val="2681449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3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>
                <a:solidFill>
                  <a:schemeClr val="dk1"/>
                </a:solidFill>
              </a:rPr>
              <a:t>REFERENCES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44" name="Google Shape;444;p23"/>
          <p:cNvSpPr txBox="1">
            <a:spLocks noGrp="1"/>
          </p:cNvSpPr>
          <p:nvPr>
            <p:ph type="body" idx="1"/>
          </p:nvPr>
        </p:nvSpPr>
        <p:spPr>
          <a:xfrm>
            <a:off x="1987815" y="2843395"/>
            <a:ext cx="8216369" cy="3740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en-US" sz="1600" u="sng" dirty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US" sz="1600" u="sng" dirty="0">
                <a:solidFill>
                  <a:srgbClr val="0070C0"/>
                </a:solidFill>
                <a:sym typeface="Times New Roma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cryptography101.ca/kyber-dilithium/</a:t>
            </a:r>
            <a:endParaRPr lang="en-US" sz="1600" u="sng">
              <a:solidFill>
                <a:srgbClr val="0070C0"/>
              </a:solidFill>
              <a:cs typeface="Arial"/>
            </a:endParaRPr>
          </a:p>
          <a:p>
            <a:pPr marL="2286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</a:pPr>
            <a:r>
              <a:rPr lang="en-US" sz="1600" u="sng" dirty="0">
                <a:solidFill>
                  <a:srgbClr val="0070C0"/>
                </a:solidFill>
                <a:cs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https://scienceexchange.caltech.edu/topics/quantum-science-explained/quantum-cryptography</a:t>
            </a:r>
            <a:endParaRPr lang="en-US" sz="1600" u="sng">
              <a:solidFill>
                <a:srgbClr val="0070C0"/>
              </a:solidFill>
              <a:cs typeface="Arial"/>
            </a:endParaRPr>
          </a:p>
          <a:p>
            <a:pPr marL="228600" indent="-228600">
              <a:lnSpc>
                <a:spcPct val="150000"/>
              </a:lnSpc>
              <a:buSzPts val="2000"/>
            </a:pPr>
            <a:r>
              <a:rPr lang="en-US" sz="1600" u="sng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https://pq-crystals.org/index.shtml</a:t>
            </a:r>
            <a:endParaRPr lang="en-US" sz="1600" u="sng" dirty="0">
              <a:solidFill>
                <a:srgbClr val="0070C0"/>
              </a:solidFill>
            </a:endParaRPr>
          </a:p>
          <a:p>
            <a:pPr marL="228600" indent="-228600">
              <a:lnSpc>
                <a:spcPct val="150000"/>
              </a:lnSpc>
              <a:buSzPts val="2000"/>
            </a:pPr>
            <a:r>
              <a:rPr lang="en-US" sz="1600" u="sng" dirty="0">
                <a:solidFill>
                  <a:srgbClr val="0070C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https://csrc.nist.gov/pubs/fips/203/final</a:t>
            </a:r>
            <a:endParaRPr lang="en-US" sz="1600" u="sng" dirty="0">
              <a:solidFill>
                <a:srgbClr val="0070C0"/>
              </a:solidFill>
            </a:endParaRPr>
          </a:p>
          <a:p>
            <a:pPr marL="228600" indent="-228600">
              <a:lnSpc>
                <a:spcPct val="150000"/>
              </a:lnSpc>
              <a:buSzPts val="2000"/>
            </a:pPr>
            <a:r>
              <a:rPr lang="en-US" sz="1600" u="sng" dirty="0">
                <a:solidFill>
                  <a:srgbClr val="0070C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https://www.coengoedegebure.com/surviving-an-infosec-job-interview-cryptography/</a:t>
            </a:r>
            <a:endParaRPr lang="en-US" sz="1600" u="sng" dirty="0">
              <a:solidFill>
                <a:srgbClr val="0070C0"/>
              </a:solidFill>
            </a:endParaRPr>
          </a:p>
          <a:p>
            <a:pPr marL="228600" indent="-228600">
              <a:lnSpc>
                <a:spcPct val="150000"/>
              </a:lnSpc>
              <a:buSzPts val="2000"/>
            </a:pPr>
            <a:r>
              <a:rPr lang="en-US" sz="1600" u="sng" dirty="0">
                <a:solidFill>
                  <a:srgbClr val="0070C0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https://www.researchgate.net/publication/371388643_Resilience_Optimization_of_Post-Quantum_Cryptography_Key_Encapsulation_Algorithms</a:t>
            </a:r>
            <a:endParaRPr lang="en-US" sz="1600" u="sng" dirty="0">
              <a:solidFill>
                <a:srgbClr val="0070C0"/>
              </a:solidFill>
            </a:endParaRPr>
          </a:p>
          <a:p>
            <a:pPr marL="2286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000"/>
            </a:pPr>
            <a:endParaRPr lang="en-US" sz="1600" u="sng" dirty="0">
              <a:solidFill>
                <a:srgbClr val="0070C0"/>
              </a:solidFill>
              <a:latin typeface="Times New Roman"/>
              <a:ea typeface="Times New Roman"/>
              <a:cs typeface="Times New Roman"/>
            </a:endParaRPr>
          </a:p>
          <a:p>
            <a:pPr marL="228600" indent="-228600">
              <a:lnSpc>
                <a:spcPct val="150000"/>
              </a:lnSpc>
              <a:buSzPts val="2000"/>
            </a:pPr>
            <a:endParaRPr lang="en-US" sz="1600" u="sng" dirty="0">
              <a:solidFill>
                <a:srgbClr val="0070C0"/>
              </a:solidFill>
            </a:endParaRPr>
          </a:p>
          <a:p>
            <a:pPr marL="0" indent="0">
              <a:lnSpc>
                <a:spcPct val="150000"/>
              </a:lnSpc>
              <a:buSzPts val="2000"/>
              <a:buNone/>
            </a:pPr>
            <a:endParaRPr lang="en-US" sz="1600" u="sng" dirty="0">
              <a:solidFill>
                <a:srgbClr val="0070C0"/>
              </a:solidFill>
            </a:endParaRPr>
          </a:p>
          <a:p>
            <a:pPr marL="0" indent="0">
              <a:lnSpc>
                <a:spcPct val="150000"/>
              </a:lnSpc>
              <a:buSzPts val="2000"/>
              <a:buNone/>
            </a:pPr>
            <a:endParaRPr lang="en-US" sz="1600" u="sng" dirty="0">
              <a:solidFill>
                <a:srgbClr val="0070C0"/>
              </a:solidFill>
            </a:endParaRPr>
          </a:p>
        </p:txBody>
      </p:sp>
      <p:sp>
        <p:nvSpPr>
          <p:cNvPr id="445" name="Google Shape;445;p2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solidFill>
                  <a:schemeClr val="dk1"/>
                </a:solidFill>
              </a:rPr>
              <a:t>25</a:t>
            </a:fld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Notes>21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27" baseType="lpstr">
      <vt:lpstr>Parcel</vt:lpstr>
      <vt:lpstr>Parcel</vt:lpstr>
      <vt:lpstr>KYBER</vt:lpstr>
      <vt:lpstr>PRESENTATION OUTLINE</vt:lpstr>
      <vt:lpstr>INTRODUCTION</vt:lpstr>
      <vt:lpstr>Presentation Objective</vt:lpstr>
      <vt:lpstr>Post-quantum cryptography</vt:lpstr>
      <vt:lpstr>KYBER-PKE &amp; KYBER-KEM</vt:lpstr>
      <vt:lpstr>PowerPoint Presentation</vt:lpstr>
      <vt:lpstr>IMPORTANT MATH NOTATION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KYBER-PKE</vt:lpstr>
      <vt:lpstr>PowerPoint Presentation</vt:lpstr>
      <vt:lpstr>PowerPoint Presentation</vt:lpstr>
      <vt:lpstr>PowerPoint Presentation</vt:lpstr>
      <vt:lpstr>KYBER-KEM</vt:lpstr>
      <vt:lpstr>PowerPoint Presentation</vt:lpstr>
      <vt:lpstr>PowerPoint Presentation</vt:lpstr>
      <vt:lpstr>PowerPoint Presentation</vt:lpstr>
      <vt:lpstr>Current work</vt:lpstr>
      <vt:lpstr>fqmul</vt:lpstr>
      <vt:lpstr>montgomery_reduce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Pakin Panawattanakul</dc:creator>
  <cp:revision>436</cp:revision>
  <dcterms:created xsi:type="dcterms:W3CDTF">2025-03-20T15:13:22Z</dcterms:created>
  <dcterms:modified xsi:type="dcterms:W3CDTF">2026-01-15T07:31:42Z</dcterms:modified>
</cp:coreProperties>
</file>